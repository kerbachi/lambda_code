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145705877" r:id="rId5"/>
    <p:sldId id="2145705898" r:id="rId6"/>
    <p:sldId id="2145705926" r:id="rId7"/>
    <p:sldId id="2145705937" r:id="rId8"/>
    <p:sldId id="2145705934" r:id="rId9"/>
    <p:sldId id="2145705938" r:id="rId10"/>
    <p:sldId id="2145705925" r:id="rId11"/>
    <p:sldId id="2145705931" r:id="rId12"/>
    <p:sldId id="2145705930" r:id="rId13"/>
    <p:sldId id="2145705927" r:id="rId14"/>
    <p:sldId id="2145705928" r:id="rId15"/>
    <p:sldId id="2145705936" r:id="rId16"/>
    <p:sldId id="2145705935" r:id="rId17"/>
    <p:sldId id="2145705933" r:id="rId18"/>
    <p:sldId id="21457059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1B442D-F2A1-4F36-0192-BD24B231C052}" name="Reynolds, Stephanie" initials="RS" userId="S::stephanie.reynolds@transamerica.com::1f88be43-2847-49d0-80bb-1c7c6421f5eb" providerId="AD"/>
  <p188:author id="{A63E6A45-10CA-4641-4AB0-A4938772B0EF}" name="Reynolds, Stephanie" initials="SR" userId="S::Stephanie.Reynolds@transamerica.com::1f88be43-2847-49d0-80bb-1c7c6421f5eb" providerId="AD"/>
  <p188:author id="{3F7E094C-D569-8125-38C8-449AF1B080AA}" name="Everest, Neil" initials="RE" userId="S::Neil.Everest@aegon.com::7abe4f5f-2529-4917-872c-a7c627cd255c" providerId="AD"/>
  <p188:author id="{3D164B6F-D555-EAA1-7ABA-36BEDD2DFC53}" name="Reynolds, Stephanie" initials="RS" userId="S::Stephanie.Reynolds@Transamerica.com::1f88be43-2847-49d0-80bb-1c7c6421f5eb" providerId="AD"/>
  <p188:author id="{43088EEF-A013-E811-CB69-ADABF81AA9A3}" name="Everest, Neil" initials="EN" userId="S::neil.everest@aegon.com::7abe4f5f-2529-4917-872c-a7c627cd25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0" d="100"/>
          <a:sy n="70"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647BDA-7D3F-4203-AD05-B385567E6FD9}" type="datetimeFigureOut">
              <a:rPr lang="en-US" smtClean="0"/>
              <a:t>5/6/2024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D21407-2CD1-4DB0-A3EF-2D828502E394}" type="slidenum">
              <a:rPr lang="en-US" smtClean="0"/>
              <a:t>‹#›</a:t>
            </a:fld>
            <a:endParaRPr lang="en-US"/>
          </a:p>
        </p:txBody>
      </p:sp>
    </p:spTree>
    <p:extLst>
      <p:ext uri="{BB962C8B-B14F-4D97-AF65-F5344CB8AC3E}">
        <p14:creationId xmlns:p14="http://schemas.microsoft.com/office/powerpoint/2010/main" val="34696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a:t>
            </a:fld>
            <a:endParaRPr lang="nl-NL" dirty="0"/>
          </a:p>
        </p:txBody>
      </p:sp>
    </p:spTree>
    <p:extLst>
      <p:ext uri="{BB962C8B-B14F-4D97-AF65-F5344CB8AC3E}">
        <p14:creationId xmlns:p14="http://schemas.microsoft.com/office/powerpoint/2010/main" val="111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2</a:t>
            </a:fld>
            <a:endParaRPr lang="nl-NL"/>
          </a:p>
        </p:txBody>
      </p:sp>
    </p:spTree>
    <p:extLst>
      <p:ext uri="{BB962C8B-B14F-4D97-AF65-F5344CB8AC3E}">
        <p14:creationId xmlns:p14="http://schemas.microsoft.com/office/powerpoint/2010/main" val="3722035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3</a:t>
            </a:fld>
            <a:endParaRPr lang="nl-NL"/>
          </a:p>
        </p:txBody>
      </p:sp>
    </p:spTree>
    <p:extLst>
      <p:ext uri="{BB962C8B-B14F-4D97-AF65-F5344CB8AC3E}">
        <p14:creationId xmlns:p14="http://schemas.microsoft.com/office/powerpoint/2010/main" val="833165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4</a:t>
            </a:fld>
            <a:endParaRPr lang="nl-NL"/>
          </a:p>
        </p:txBody>
      </p:sp>
    </p:spTree>
    <p:extLst>
      <p:ext uri="{BB962C8B-B14F-4D97-AF65-F5344CB8AC3E}">
        <p14:creationId xmlns:p14="http://schemas.microsoft.com/office/powerpoint/2010/main" val="108264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5</a:t>
            </a:fld>
            <a:endParaRPr lang="nl-NL"/>
          </a:p>
        </p:txBody>
      </p:sp>
    </p:spTree>
    <p:extLst>
      <p:ext uri="{BB962C8B-B14F-4D97-AF65-F5344CB8AC3E}">
        <p14:creationId xmlns:p14="http://schemas.microsoft.com/office/powerpoint/2010/main" val="705992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6</a:t>
            </a:fld>
            <a:endParaRPr lang="nl-NL"/>
          </a:p>
        </p:txBody>
      </p:sp>
    </p:spTree>
    <p:extLst>
      <p:ext uri="{BB962C8B-B14F-4D97-AF65-F5344CB8AC3E}">
        <p14:creationId xmlns:p14="http://schemas.microsoft.com/office/powerpoint/2010/main" val="1835155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7</a:t>
            </a:fld>
            <a:endParaRPr lang="nl-NL"/>
          </a:p>
        </p:txBody>
      </p:sp>
    </p:spTree>
    <p:extLst>
      <p:ext uri="{BB962C8B-B14F-4D97-AF65-F5344CB8AC3E}">
        <p14:creationId xmlns:p14="http://schemas.microsoft.com/office/powerpoint/2010/main" val="2424693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8</a:t>
            </a:fld>
            <a:endParaRPr lang="nl-NL"/>
          </a:p>
        </p:txBody>
      </p:sp>
    </p:spTree>
    <p:extLst>
      <p:ext uri="{BB962C8B-B14F-4D97-AF65-F5344CB8AC3E}">
        <p14:creationId xmlns:p14="http://schemas.microsoft.com/office/powerpoint/2010/main" val="30604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9</a:t>
            </a:fld>
            <a:endParaRPr lang="nl-NL"/>
          </a:p>
        </p:txBody>
      </p:sp>
    </p:spTree>
    <p:extLst>
      <p:ext uri="{BB962C8B-B14F-4D97-AF65-F5344CB8AC3E}">
        <p14:creationId xmlns:p14="http://schemas.microsoft.com/office/powerpoint/2010/main" val="76403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10</a:t>
            </a:fld>
            <a:endParaRPr lang="nl-NL"/>
          </a:p>
        </p:txBody>
      </p:sp>
    </p:spTree>
    <p:extLst>
      <p:ext uri="{BB962C8B-B14F-4D97-AF65-F5344CB8AC3E}">
        <p14:creationId xmlns:p14="http://schemas.microsoft.com/office/powerpoint/2010/main" val="3986539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11</a:t>
            </a:fld>
            <a:endParaRPr lang="nl-NL"/>
          </a:p>
        </p:txBody>
      </p:sp>
    </p:spTree>
    <p:extLst>
      <p:ext uri="{BB962C8B-B14F-4D97-AF65-F5344CB8AC3E}">
        <p14:creationId xmlns:p14="http://schemas.microsoft.com/office/powerpoint/2010/main" val="1218846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12</a:t>
            </a:fld>
            <a:endParaRPr lang="nl-NL"/>
          </a:p>
        </p:txBody>
      </p:sp>
    </p:spTree>
    <p:extLst>
      <p:ext uri="{BB962C8B-B14F-4D97-AF65-F5344CB8AC3E}">
        <p14:creationId xmlns:p14="http://schemas.microsoft.com/office/powerpoint/2010/main" val="450624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13</a:t>
            </a:fld>
            <a:endParaRPr lang="nl-NL"/>
          </a:p>
        </p:txBody>
      </p:sp>
    </p:spTree>
    <p:extLst>
      <p:ext uri="{BB962C8B-B14F-4D97-AF65-F5344CB8AC3E}">
        <p14:creationId xmlns:p14="http://schemas.microsoft.com/office/powerpoint/2010/main" val="571235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14</a:t>
            </a:fld>
            <a:endParaRPr lang="nl-NL"/>
          </a:p>
        </p:txBody>
      </p:sp>
    </p:spTree>
    <p:extLst>
      <p:ext uri="{BB962C8B-B14F-4D97-AF65-F5344CB8AC3E}">
        <p14:creationId xmlns:p14="http://schemas.microsoft.com/office/powerpoint/2010/main" val="1302181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15</a:t>
            </a:fld>
            <a:endParaRPr lang="nl-NL"/>
          </a:p>
        </p:txBody>
      </p:sp>
    </p:spTree>
    <p:extLst>
      <p:ext uri="{BB962C8B-B14F-4D97-AF65-F5344CB8AC3E}">
        <p14:creationId xmlns:p14="http://schemas.microsoft.com/office/powerpoint/2010/main" val="103532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D01EF-4F39-49BE-D92D-4FE43C063D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73AC09-1C7F-C08C-8935-4AB0CE6AE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3E0A92-A367-9810-0450-BFB4A7831387}"/>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5" name="Footer Placeholder 4">
            <a:extLst>
              <a:ext uri="{FF2B5EF4-FFF2-40B4-BE49-F238E27FC236}">
                <a16:creationId xmlns:a16="http://schemas.microsoft.com/office/drawing/2014/main" id="{719B6243-FAA1-1EB7-0769-76EE66B39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5ADC7-1B95-6B9E-676A-5AD98D7DDFA3}"/>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82156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4CF3B-FDEA-E8BC-E4CB-3DE06E3AD5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DC06E7-053E-2188-BCBF-9A1417BE7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24612-6BB4-7949-4CC7-08F9F2B5941D}"/>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5" name="Footer Placeholder 4">
            <a:extLst>
              <a:ext uri="{FF2B5EF4-FFF2-40B4-BE49-F238E27FC236}">
                <a16:creationId xmlns:a16="http://schemas.microsoft.com/office/drawing/2014/main" id="{057FAB5D-1A2E-F6F4-2328-9904419B9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03C815-5CCF-7D70-DFE8-21581A88F783}"/>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312849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DCE3-4348-857F-2060-969997DCD4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D222C0-AA29-C936-6A87-94AF775932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ED2F0F-FCAF-861D-67CB-7042944D63F2}"/>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5" name="Footer Placeholder 4">
            <a:extLst>
              <a:ext uri="{FF2B5EF4-FFF2-40B4-BE49-F238E27FC236}">
                <a16:creationId xmlns:a16="http://schemas.microsoft.com/office/drawing/2014/main" id="{6AFE379E-3E82-EBB5-5572-382340635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1FA0D-C656-3D3D-602A-7C1D29D01B96}"/>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227834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CDAF7-7288-26AD-AAC1-F44249C3E2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B7552-A96B-08E0-412E-794551E0F2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FBF850-16CA-BB51-9813-1179C3DB18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01AB11-9B18-4A0C-B6C7-954CD8AFC22F}"/>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6" name="Footer Placeholder 5">
            <a:extLst>
              <a:ext uri="{FF2B5EF4-FFF2-40B4-BE49-F238E27FC236}">
                <a16:creationId xmlns:a16="http://schemas.microsoft.com/office/drawing/2014/main" id="{58EA4C7F-74DD-9AED-8DC7-D854BBE66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2B7551-8F52-9508-6586-73D4104B91E7}"/>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102642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0563-2CE5-222A-900B-ABA56C62FC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5A42AE-D960-40B5-6361-6D599C7810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32659A-9E7E-C400-54F5-E0ED20E7D9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0A4281-D0CF-3C4A-9C1D-FD83D11E0B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23F5B6-A9AC-41C0-0ABB-1FCDD43459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403DB5-8E5B-A389-8C07-033D2A6E88DF}"/>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8" name="Footer Placeholder 7">
            <a:extLst>
              <a:ext uri="{FF2B5EF4-FFF2-40B4-BE49-F238E27FC236}">
                <a16:creationId xmlns:a16="http://schemas.microsoft.com/office/drawing/2014/main" id="{BC109128-5423-C7DC-E098-DDF0242F88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87315E-9967-E362-BB4D-0238B631EABF}"/>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942470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E8AD-51EF-96BA-5BFC-609F6E0C05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E8ECFC-EE04-8EE6-58EB-00248381DE04}"/>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4" name="Footer Placeholder 3">
            <a:extLst>
              <a:ext uri="{FF2B5EF4-FFF2-40B4-BE49-F238E27FC236}">
                <a16:creationId xmlns:a16="http://schemas.microsoft.com/office/drawing/2014/main" id="{A3F597EF-25E7-1CA7-14BD-E44E079660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4B8D4E-4440-AEFF-3B15-88FB775DD14A}"/>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379012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01706F-661B-F996-004C-14310B610256}"/>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3" name="Footer Placeholder 2">
            <a:extLst>
              <a:ext uri="{FF2B5EF4-FFF2-40B4-BE49-F238E27FC236}">
                <a16:creationId xmlns:a16="http://schemas.microsoft.com/office/drawing/2014/main" id="{C6C9E97E-E2BA-B2B7-6C6C-BCE3ADDCA0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37D5C1-3167-AF02-6CB1-C2FD11A50EED}"/>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1066085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A71DC-37D1-DF0F-8EB2-63478CEA9A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CA72C9-7C90-16ED-E798-058AAB20AA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7317DD-162A-D776-E2E5-7CF8B5F3DE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CAFE0-7D4F-D061-60F7-FFD3DF795A0B}"/>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6" name="Footer Placeholder 5">
            <a:extLst>
              <a:ext uri="{FF2B5EF4-FFF2-40B4-BE49-F238E27FC236}">
                <a16:creationId xmlns:a16="http://schemas.microsoft.com/office/drawing/2014/main" id="{2C32E592-C92C-04E9-11AB-3127D8289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8C933A-8C8A-EDD3-287A-E04104F83497}"/>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141869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E73D-4A62-8E9A-7F8C-F09499DF94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094F49-95D1-4849-EA2E-3D7C070459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7AC7F6-4B95-5B79-1860-29D80E1864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80897-DC09-0512-82E7-2B81B104E057}"/>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6" name="Footer Placeholder 5">
            <a:extLst>
              <a:ext uri="{FF2B5EF4-FFF2-40B4-BE49-F238E27FC236}">
                <a16:creationId xmlns:a16="http://schemas.microsoft.com/office/drawing/2014/main" id="{8DB97559-4DED-A372-9816-0AFB9C40F2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FA3C64-8439-9394-74E8-6EC3FF5FD5B6}"/>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3720284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A742-9312-100A-B486-50612A604F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7A3A61-43B2-AA52-5627-D3B2F2638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843D1B-1464-8FFF-CF5C-BF10DB6ED8CA}"/>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5" name="Footer Placeholder 4">
            <a:extLst>
              <a:ext uri="{FF2B5EF4-FFF2-40B4-BE49-F238E27FC236}">
                <a16:creationId xmlns:a16="http://schemas.microsoft.com/office/drawing/2014/main" id="{26A6CF1D-D2C6-0577-BC90-0EF0F7025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B59A7-4B7F-8243-039D-A7EA22E7C1EF}"/>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4121856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B7200-6AF3-E7C4-A694-79EBA13B39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FB037D-DC0A-F989-CFCA-5141C7718A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97741F-7DE1-1459-A9CC-9BDE17451C3A}"/>
              </a:ext>
            </a:extLst>
          </p:cNvPr>
          <p:cNvSpPr>
            <a:spLocks noGrp="1"/>
          </p:cNvSpPr>
          <p:nvPr>
            <p:ph type="dt" sz="half" idx="10"/>
          </p:nvPr>
        </p:nvSpPr>
        <p:spPr/>
        <p:txBody>
          <a:bodyPr/>
          <a:lstStyle/>
          <a:p>
            <a:fld id="{D7198B06-B48E-4FE5-84D2-7D02FC2FA5A8}" type="datetimeFigureOut">
              <a:rPr lang="en-US" smtClean="0"/>
              <a:t>5/6/2024</a:t>
            </a:fld>
            <a:endParaRPr lang="en-US"/>
          </a:p>
        </p:txBody>
      </p:sp>
      <p:sp>
        <p:nvSpPr>
          <p:cNvPr id="5" name="Footer Placeholder 4">
            <a:extLst>
              <a:ext uri="{FF2B5EF4-FFF2-40B4-BE49-F238E27FC236}">
                <a16:creationId xmlns:a16="http://schemas.microsoft.com/office/drawing/2014/main" id="{5474A69E-F36D-C828-8F5B-C9F0525DCE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07689-179C-0F83-149F-6BCB0318BF9F}"/>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2920771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dirty="0"/>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dirty="0"/>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dirty="0"/>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dirty="0"/>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dirty="0"/>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5812244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dirty="0"/>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endParaRPr lang="en-US" dirty="0"/>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dirty="0"/>
          </a:p>
        </p:txBody>
      </p:sp>
    </p:spTree>
    <p:extLst>
      <p:ext uri="{BB962C8B-B14F-4D97-AF65-F5344CB8AC3E}">
        <p14:creationId xmlns:p14="http://schemas.microsoft.com/office/powerpoint/2010/main" val="216988204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endParaRPr lang="en-US" dirty="0"/>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dirty="0"/>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dirty="0"/>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dirty="0"/>
          </a:p>
        </p:txBody>
      </p:sp>
    </p:spTree>
    <p:extLst>
      <p:ext uri="{BB962C8B-B14F-4D97-AF65-F5344CB8AC3E}">
        <p14:creationId xmlns:p14="http://schemas.microsoft.com/office/powerpoint/2010/main" val="351487086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4602B2-286A-539B-D0A9-40A614E38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940248-A777-B881-DBDF-EE9ACE128D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EE7240-76DB-BCE3-2CC0-B17BABAAD2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198B06-B48E-4FE5-84D2-7D02FC2FA5A8}" type="datetimeFigureOut">
              <a:rPr lang="en-US" smtClean="0"/>
              <a:t>5/6/2024</a:t>
            </a:fld>
            <a:endParaRPr lang="en-US"/>
          </a:p>
        </p:txBody>
      </p:sp>
      <p:sp>
        <p:nvSpPr>
          <p:cNvPr id="5" name="Footer Placeholder 4">
            <a:extLst>
              <a:ext uri="{FF2B5EF4-FFF2-40B4-BE49-F238E27FC236}">
                <a16:creationId xmlns:a16="http://schemas.microsoft.com/office/drawing/2014/main" id="{1B779B21-961C-3CD5-2B49-030C05CFBE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612D11-47EB-817C-30AC-2A2657EB54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675EB6-4D36-4627-B4C8-99174A54A2D1}" type="slidenum">
              <a:rPr lang="en-US" smtClean="0"/>
              <a:t>‹#›</a:t>
            </a:fld>
            <a:endParaRPr lang="en-US"/>
          </a:p>
        </p:txBody>
      </p:sp>
    </p:spTree>
    <p:extLst>
      <p:ext uri="{BB962C8B-B14F-4D97-AF65-F5344CB8AC3E}">
        <p14:creationId xmlns:p14="http://schemas.microsoft.com/office/powerpoint/2010/main" val="46555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2.x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hyperlink" Target="https://aegonna.sharepoint.com/sites/GTS-ICC/Intranet/ITCF/Shared%20Documents/Forms/AllItems.aspx?csf=1&amp;web=1&amp;e=q9LAYE&amp;ovuser=46e16835%2Dc804%2D41de%2Dbe3c%2D55835d14dee4%2CDaniel%2ELartey%40transamerica%2Ecom&amp;OR=Teams%2DHL&amp;CT=1712150676102&amp;clickparams=eyJBcHBOYW1lIjoiVGVhbXMtRGVza3RvcCIsIkFwcFZlcnNpb24iOiI0OS8yNDAyMTUyODYxNSIsIkhhc0ZlZGVyYXRlZFVzZXIiOmZhbHNlfQ%3D%3D&amp;cid=6953cf1a%2D4708%2D4a62%2Db66c%2Ddeb3ea56b07c&amp;FolderCTID=0x012000E035F8AFB69860479F9EADAF3C29FAC1&amp;id=%2Fsites%2FGTS%2DICC%2FIntranet%2FITCF%2FShared%20Documents%2FEnablers%20%26%20Checklists%2FProtect%20Domain%2FP04%2E01%2E02%20%2D%20Information%20Security%20Classification%20Standard%2Epdf&amp;parent=%2Fsites%2FGTS%2DICC%2FIntranet%2FITCF%2FShared%20Documents%2FEnablers%20%26%20Checklists%2FProtect%20Domain"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s://aegonna.sharepoint.com/sites/GTS-ICC/Intranet/ITCF/Shared%20Documents/Forms/AllItems.aspx?csf=1&amp;web=1&amp;e=q9LAYE&amp;ovuser=46e16835%2Dc804%2D41de%2Dbe3c%2D55835d14dee4%2CDaniel%2ELartey%40transamerica%2Ecom&amp;OR=Teams%2DHL&amp;CT=1712150676102&amp;clickparams=eyJBcHBOYW1lIjoiVGVhbXMtRGVza3RvcCIsIkFwcFZlcnNpb24iOiI0OS8yNDAyMTUyODYxNSIsIkhhc0ZlZGVyYXRlZFVzZXIiOmZhbHNlfQ%3D%3D&amp;cid=6953cf1a%2D4708%2D4a62%2Db66c%2Ddeb3ea56b07c&amp;FolderCTID=0x012000E035F8AFB69860479F9EADAF3C29FAC1&amp;id=%2Fsites%2FGTS%2DICC%2FIntranet%2FITCF%2FShared%20Documents%2FEnablers%20%26%20Checklists%2FProtect%20Domain%2FP04%2E01%2E02%20%2D%20Information%20Security%20Classification%20Standard%2Epdf&amp;parent=%2Fsites%2FGTS%2DICC%2FIntranet%2FITCF%2FShared%20Documents%2FEnablers%20%26%20Checklists%2FProtect%20Domain"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3.xml"/><Relationship Id="rId5" Type="http://schemas.openxmlformats.org/officeDocument/2006/relationships/image" Target="../media/image4.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4901B36-4345-7D13-D40E-A9A6C1547980}"/>
              </a:ext>
            </a:extLst>
          </p:cNvPr>
          <p:cNvSpPr>
            <a:spLocks noGrp="1"/>
          </p:cNvSpPr>
          <p:nvPr>
            <p:ph type="body" sz="quarter" idx="13"/>
          </p:nvPr>
        </p:nvSpPr>
        <p:spPr/>
        <p:txBody>
          <a:bodyPr/>
          <a:lstStyle/>
          <a:p>
            <a:r>
              <a:rPr lang="en-US" dirty="0"/>
              <a:t>22 April 2024</a:t>
            </a:r>
          </a:p>
        </p:txBody>
      </p:sp>
      <p:sp>
        <p:nvSpPr>
          <p:cNvPr id="11" name="Text Placeholder 10">
            <a:extLst>
              <a:ext uri="{FF2B5EF4-FFF2-40B4-BE49-F238E27FC236}">
                <a16:creationId xmlns:a16="http://schemas.microsoft.com/office/drawing/2014/main" id="{E9F661E0-2423-AA68-1D3F-2A46A7B5AE57}"/>
              </a:ext>
            </a:extLst>
          </p:cNvPr>
          <p:cNvSpPr>
            <a:spLocks noGrp="1"/>
          </p:cNvSpPr>
          <p:nvPr>
            <p:ph type="body" sz="quarter" idx="18"/>
          </p:nvPr>
        </p:nvSpPr>
        <p:spPr>
          <a:xfrm>
            <a:off x="480000" y="5687336"/>
            <a:ext cx="1701225" cy="298870"/>
          </a:xfrm>
        </p:spPr>
        <p:txBody>
          <a:bodyPr/>
          <a:lstStyle/>
          <a:p>
            <a:r>
              <a:rPr lang="en-US" dirty="0"/>
              <a:t>Confidential</a:t>
            </a:r>
          </a:p>
        </p:txBody>
      </p:sp>
      <p:sp>
        <p:nvSpPr>
          <p:cNvPr id="2" name="Title 1">
            <a:extLst>
              <a:ext uri="{FF2B5EF4-FFF2-40B4-BE49-F238E27FC236}">
                <a16:creationId xmlns:a16="http://schemas.microsoft.com/office/drawing/2014/main" id="{4B82A4C7-6774-0CB4-4145-6A6D56610E2A}"/>
              </a:ext>
            </a:extLst>
          </p:cNvPr>
          <p:cNvSpPr>
            <a:spLocks noGrp="1"/>
          </p:cNvSpPr>
          <p:nvPr>
            <p:ph type="ctrTitle"/>
          </p:nvPr>
        </p:nvSpPr>
        <p:spPr/>
        <p:txBody>
          <a:bodyPr/>
          <a:lstStyle/>
          <a:p>
            <a:r>
              <a:rPr lang="en-US" dirty="0"/>
              <a:t>Architecture Intake Requirements</a:t>
            </a:r>
          </a:p>
        </p:txBody>
      </p:sp>
    </p:spTree>
    <p:extLst>
      <p:ext uri="{BB962C8B-B14F-4D97-AF65-F5344CB8AC3E}">
        <p14:creationId xmlns:p14="http://schemas.microsoft.com/office/powerpoint/2010/main" val="302900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510654-3B0E-BDDB-986A-7FC81C2000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8B510654-3B0E-BDDB-986A-7FC81C2000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vert="horz"/>
          <a:lstStyle/>
          <a:p>
            <a:r>
              <a:rPr lang="en-US" dirty="0"/>
              <a:t>Architecture Intake Requirements</a:t>
            </a:r>
          </a:p>
        </p:txBody>
      </p:sp>
      <p:sp>
        <p:nvSpPr>
          <p:cNvPr id="17" name="Content Placeholder 16">
            <a:extLst>
              <a:ext uri="{FF2B5EF4-FFF2-40B4-BE49-F238E27FC236}">
                <a16:creationId xmlns:a16="http://schemas.microsoft.com/office/drawing/2014/main" id="{0B9E93A7-E5A7-9BFC-37C3-7DEED9E119B3}"/>
              </a:ext>
            </a:extLst>
          </p:cNvPr>
          <p:cNvSpPr>
            <a:spLocks noGrp="1"/>
          </p:cNvSpPr>
          <p:nvPr>
            <p:ph idx="1"/>
          </p:nvPr>
        </p:nvSpPr>
        <p:spPr>
          <a:xfrm>
            <a:off x="480000" y="1414800"/>
            <a:ext cx="11232000" cy="4679998"/>
          </a:xfrm>
        </p:spPr>
        <p:txBody>
          <a:bodyPr>
            <a:normAutofit/>
          </a:bodyPr>
          <a:lstStyle/>
          <a:p>
            <a:pPr marL="457200" lvl="1" indent="0">
              <a:buNone/>
            </a:pPr>
            <a:r>
              <a:rPr lang="en-US" dirty="0"/>
              <a:t>The purpose of this document is to provide a template for information needed by GTS Architecture. It is essential to provide of clear and well-documented requirements, budget documentation, stakeholder involvement, and upfront information to streamline the process and ensure the solution meets objectives efficiently. </a:t>
            </a:r>
          </a:p>
          <a:p>
            <a:pPr marL="457200" lvl="1" indent="0">
              <a:buNone/>
            </a:pPr>
            <a:endParaRPr lang="en-US" dirty="0"/>
          </a:p>
          <a:p>
            <a:pPr marL="457200" lvl="1" indent="0">
              <a:buNone/>
            </a:pPr>
            <a:r>
              <a:rPr lang="en-US" dirty="0"/>
              <a:t>Having clear and well-documented requirements helps ensure that the architecture solution aligns with the overall goals and objectives of the project. It allows the architecture team to understand the scope of work and make informed decisions about the design and implementation of the system.</a:t>
            </a:r>
          </a:p>
          <a:p>
            <a:pPr marL="457200" lvl="1" indent="0">
              <a:buNone/>
            </a:pPr>
            <a:endParaRPr lang="en-US" dirty="0"/>
          </a:p>
          <a:p>
            <a:pPr marL="457200" lvl="1" indent="0">
              <a:buNone/>
            </a:pPr>
            <a:r>
              <a:rPr lang="en-US" dirty="0"/>
              <a:t>Providing upfront information saves time and effort, streamlining the process and ensuring the solution meets objectives efficiently.</a:t>
            </a:r>
          </a:p>
          <a:p>
            <a:pPr marL="457200" lvl="1" indent="0">
              <a:buNone/>
            </a:pPr>
            <a:endParaRPr lang="en-US" dirty="0"/>
          </a:p>
        </p:txBody>
      </p:sp>
      <p:sp>
        <p:nvSpPr>
          <p:cNvPr id="29" name="Slide Number Placeholder 28">
            <a:extLst>
              <a:ext uri="{FF2B5EF4-FFF2-40B4-BE49-F238E27FC236}">
                <a16:creationId xmlns:a16="http://schemas.microsoft.com/office/drawing/2014/main" id="{111E2913-9BA6-07FC-0B76-C6FC2E781F97}"/>
              </a:ext>
            </a:extLst>
          </p:cNvPr>
          <p:cNvSpPr>
            <a:spLocks noGrp="1"/>
          </p:cNvSpPr>
          <p:nvPr>
            <p:ph type="sldNum" sz="quarter" idx="15"/>
          </p:nvPr>
        </p:nvSpPr>
        <p:spPr/>
        <p:txBody>
          <a:bodyPr/>
          <a:lstStyle/>
          <a:p>
            <a:fld id="{1C1606C5-D483-4832-A0E9-CF578A9B5883}" type="slidenum">
              <a:rPr lang="en-US" smtClean="0"/>
              <a:pPr/>
              <a:t>2</a:t>
            </a:fld>
            <a:endParaRPr lang="en-US" dirty="0"/>
          </a:p>
        </p:txBody>
      </p:sp>
    </p:spTree>
    <p:extLst>
      <p:ext uri="{BB962C8B-B14F-4D97-AF65-F5344CB8AC3E}">
        <p14:creationId xmlns:p14="http://schemas.microsoft.com/office/powerpoint/2010/main" val="543785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Architecture Intake Requirements</a:t>
            </a: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3</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normAutofit fontScale="55000" lnSpcReduction="20000"/>
          </a:bodyPr>
          <a:lstStyle/>
          <a:p>
            <a:pPr marL="514350" indent="-514350">
              <a:buFont typeface="+mj-lt"/>
              <a:buAutoNum type="arabicPeriod"/>
            </a:pPr>
            <a:r>
              <a:rPr lang="en-US" dirty="0"/>
              <a:t>Business Problem</a:t>
            </a:r>
          </a:p>
          <a:p>
            <a:pPr marL="514350" indent="-514350">
              <a:buFont typeface="+mj-lt"/>
              <a:buAutoNum type="arabicPeriod"/>
            </a:pPr>
            <a:r>
              <a:rPr lang="en-US" dirty="0"/>
              <a:t>Business Value</a:t>
            </a:r>
          </a:p>
          <a:p>
            <a:pPr marL="514350" indent="-514350">
              <a:buFont typeface="+mj-lt"/>
              <a:buAutoNum type="arabicPeriod"/>
            </a:pPr>
            <a:r>
              <a:rPr lang="en-US" dirty="0"/>
              <a:t>A high-level design from your business unit architecture group</a:t>
            </a:r>
          </a:p>
          <a:p>
            <a:pPr marL="514350" indent="-514350">
              <a:buFont typeface="+mj-lt"/>
              <a:buAutoNum type="arabicPeriod"/>
            </a:pPr>
            <a:r>
              <a:rPr lang="en-US" dirty="0"/>
              <a:t>List of Stakeholders: i.e.. Executive Sponsor, Product Owner, local architect contact, budget holder</a:t>
            </a:r>
          </a:p>
          <a:p>
            <a:pPr marL="514350" indent="-514350">
              <a:buFont typeface="+mj-lt"/>
              <a:buAutoNum type="arabicPeriod"/>
            </a:pPr>
            <a:r>
              <a:rPr lang="en-US" dirty="0"/>
              <a:t>Key Contributors/SMEs to consult.</a:t>
            </a:r>
          </a:p>
          <a:p>
            <a:pPr marL="514350" indent="-514350">
              <a:buFont typeface="+mj-lt"/>
              <a:buAutoNum type="arabicPeriod"/>
            </a:pPr>
            <a:r>
              <a:rPr lang="en-US" dirty="0"/>
              <a:t>Business Units Impacted</a:t>
            </a:r>
          </a:p>
          <a:p>
            <a:pPr marL="514350" indent="-514350">
              <a:buFont typeface="+mj-lt"/>
              <a:buAutoNum type="arabicPeriod"/>
            </a:pPr>
            <a:r>
              <a:rPr lang="en-US" dirty="0"/>
              <a:t>Business Requirements</a:t>
            </a:r>
          </a:p>
          <a:p>
            <a:pPr marL="514350" indent="-514350">
              <a:buFont typeface="+mj-lt"/>
              <a:buAutoNum type="arabicPeriod"/>
            </a:pPr>
            <a:r>
              <a:rPr lang="en-US"/>
              <a:t>Success Criteria</a:t>
            </a:r>
            <a:endParaRPr lang="en-US" dirty="0"/>
          </a:p>
          <a:p>
            <a:pPr marL="514350" indent="-514350">
              <a:buFont typeface="+mj-lt"/>
              <a:buAutoNum type="arabicPeriod"/>
            </a:pPr>
            <a:r>
              <a:rPr lang="en-US" dirty="0"/>
              <a:t>Functional and Non-Functional Requirements</a:t>
            </a:r>
          </a:p>
          <a:p>
            <a:pPr marL="514350" indent="-514350">
              <a:buFont typeface="+mj-lt"/>
              <a:buAutoNum type="arabicPeriod"/>
            </a:pPr>
            <a:r>
              <a:rPr lang="en-US" dirty="0">
                <a:hlinkClick r:id="rId3"/>
              </a:rPr>
              <a:t>Data Classification (Confidential, Strictly Confidential, Internal, Public) </a:t>
            </a:r>
            <a:r>
              <a:rPr lang="en-US" dirty="0"/>
              <a:t>See Page 5 for examples.</a:t>
            </a:r>
          </a:p>
          <a:p>
            <a:pPr marL="514350" indent="-514350">
              <a:buFont typeface="+mj-lt"/>
              <a:buAutoNum type="arabicPeriod"/>
            </a:pPr>
            <a:r>
              <a:rPr lang="en-US" dirty="0"/>
              <a:t>Project name and project number</a:t>
            </a:r>
          </a:p>
          <a:p>
            <a:pPr marL="514350" indent="-514350">
              <a:buFont typeface="+mj-lt"/>
              <a:buAutoNum type="arabicPeriod"/>
            </a:pPr>
            <a:r>
              <a:rPr lang="en-US" dirty="0"/>
              <a:t>Cost Center</a:t>
            </a:r>
          </a:p>
          <a:p>
            <a:pPr marL="514350" indent="-514350">
              <a:buFont typeface="+mj-lt"/>
              <a:buAutoNum type="arabicPeriod"/>
            </a:pPr>
            <a:r>
              <a:rPr lang="en-US" dirty="0"/>
              <a:t>Cost Center Owner</a:t>
            </a:r>
          </a:p>
          <a:p>
            <a:pPr marL="514350" indent="-514350">
              <a:buFont typeface="+mj-lt"/>
              <a:buAutoNum type="arabicPeriod"/>
            </a:pPr>
            <a:r>
              <a:rPr lang="en-US" dirty="0"/>
              <a:t>Budget</a:t>
            </a:r>
          </a:p>
        </p:txBody>
      </p:sp>
    </p:spTree>
    <p:extLst>
      <p:ext uri="{BB962C8B-B14F-4D97-AF65-F5344CB8AC3E}">
        <p14:creationId xmlns:p14="http://schemas.microsoft.com/office/powerpoint/2010/main" val="321550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Business Problem</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pPr>
              <a:spcBef>
                <a:spcPts val="0"/>
              </a:spcBef>
            </a:pPr>
            <a:r>
              <a:rPr lang="en-GB" sz="1800" dirty="0">
                <a:effectLst/>
                <a:latin typeface="Calibri" panose="020F0502020204030204" pitchFamily="34" charset="0"/>
                <a:ea typeface="Times New Roman" panose="02020603050405020304" pitchFamily="18" charset="0"/>
                <a:cs typeface="Times New Roman" panose="02020603050405020304" pitchFamily="18" charset="0"/>
              </a:rPr>
              <a:t>Please provide a detailed summary of the business problem you are trying to solve and the motivation for change.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4</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lstStyle/>
          <a:p>
            <a:r>
              <a:rPr lang="en-GB" sz="1800" dirty="0">
                <a:effectLst/>
                <a:latin typeface="Calibri" panose="020F0502020204030204" pitchFamily="34" charset="0"/>
                <a:ea typeface="Calibri" panose="020F0502020204030204" pitchFamily="34" charset="0"/>
              </a:rPr>
              <a:t>The existing building fire alarm system in Edinburgh is end of life and is being replaced as a lifecycle requirement. The fire system being installed is provided by JCI who are the same vendors who provide our existing physical security system across Edinburgh and Witham. We are looking to integrate the new fire alarm system into our existing security system on completion to allow better monitoring and visibility on faults/activation to allow our security officers to respond to critical situations generated from this life safety system. </a:t>
            </a:r>
          </a:p>
          <a:p>
            <a:endParaRPr lang="en-GB" sz="1800" dirty="0">
              <a:latin typeface="Calibri" panose="020F0502020204030204" pitchFamily="34" charset="0"/>
              <a:ea typeface="Calibri" panose="020F0502020204030204" pitchFamily="34" charset="0"/>
            </a:endParaRPr>
          </a:p>
          <a:p>
            <a:r>
              <a:rPr lang="en-GB" sz="1800" dirty="0">
                <a:effectLst/>
                <a:latin typeface="Calibri" panose="020F0502020204030204" pitchFamily="34" charset="0"/>
                <a:ea typeface="Calibri" panose="020F0502020204030204" pitchFamily="34" charset="0"/>
              </a:rPr>
              <a:t>Our existing security system resides on a purpose-built security enclave within the GTS network, therefore we require input from GTS architecture to understand their requirements for us to be able to provide a physical connection between the fire and security systems. Software integration will be configured by the vendor, however it is the connection of the main fire panel into the victor server (which resides on GTS network) that will specifically require a design solution in order to implement on completion of the fire alarm replacement installation. </a:t>
            </a:r>
          </a:p>
          <a:p>
            <a:endParaRPr lang="en-US" dirty="0"/>
          </a:p>
        </p:txBody>
      </p:sp>
    </p:spTree>
    <p:extLst>
      <p:ext uri="{BB962C8B-B14F-4D97-AF65-F5344CB8AC3E}">
        <p14:creationId xmlns:p14="http://schemas.microsoft.com/office/powerpoint/2010/main" val="1204745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Business Value</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pPr>
              <a:spcBef>
                <a:spcPts val="0"/>
              </a:spcBef>
            </a:pPr>
            <a:r>
              <a:rPr lang="en-GB" sz="1800" dirty="0">
                <a:effectLst/>
                <a:latin typeface="Calibri" panose="020F0502020204030204" pitchFamily="34" charset="0"/>
                <a:ea typeface="Times New Roman" panose="02020603050405020304" pitchFamily="18" charset="0"/>
                <a:cs typeface="Times New Roman" panose="02020603050405020304" pitchFamily="18" charset="0"/>
              </a:rPr>
              <a:t>What is the business value of solving the problem?</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5</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lstStyle/>
          <a:p>
            <a:r>
              <a:rPr lang="en-GB" sz="1800" dirty="0">
                <a:effectLst/>
                <a:latin typeface="Calibri" panose="020F0502020204030204" pitchFamily="34" charset="0"/>
                <a:ea typeface="Calibri" panose="020F0502020204030204" pitchFamily="34" charset="0"/>
              </a:rPr>
              <a:t>This is a critical life safety system being replaced and the value of integration is to provide improved monitoring, reaction and pinpointing of issues which will be visible on building maps located within the security control centre on their existing security media wall. </a:t>
            </a:r>
          </a:p>
          <a:p>
            <a:endParaRPr lang="en-US" dirty="0"/>
          </a:p>
        </p:txBody>
      </p:sp>
    </p:spTree>
    <p:extLst>
      <p:ext uri="{BB962C8B-B14F-4D97-AF65-F5344CB8AC3E}">
        <p14:creationId xmlns:p14="http://schemas.microsoft.com/office/powerpoint/2010/main" val="1033958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High Level Design</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pPr>
              <a:spcBef>
                <a:spcPts val="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 high-level design from your business unit architecture group</a:t>
            </a: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6</a:t>
            </a:fld>
            <a:endParaRPr lang="en-US" dirty="0"/>
          </a:p>
        </p:txBody>
      </p:sp>
      <p:pic>
        <p:nvPicPr>
          <p:cNvPr id="4" name="Content Placeholder 3">
            <a:extLst>
              <a:ext uri="{FF2B5EF4-FFF2-40B4-BE49-F238E27FC236}">
                <a16:creationId xmlns:a16="http://schemas.microsoft.com/office/drawing/2014/main" id="{3199D59B-C6D7-11C9-397A-BE372E939EDF}"/>
              </a:ext>
            </a:extLst>
          </p:cNvPr>
          <p:cNvPicPr>
            <a:picLocks noGrp="1" noChangeAspect="1"/>
          </p:cNvPicPr>
          <p:nvPr>
            <p:ph sz="half" idx="2"/>
          </p:nvPr>
        </p:nvPicPr>
        <p:blipFill>
          <a:blip r:embed="rId3"/>
          <a:stretch>
            <a:fillRect/>
          </a:stretch>
        </p:blipFill>
        <p:spPr>
          <a:xfrm>
            <a:off x="2279727" y="1774825"/>
            <a:ext cx="7632546" cy="4319588"/>
          </a:xfrm>
        </p:spPr>
      </p:pic>
    </p:spTree>
    <p:extLst>
      <p:ext uri="{BB962C8B-B14F-4D97-AF65-F5344CB8AC3E}">
        <p14:creationId xmlns:p14="http://schemas.microsoft.com/office/powerpoint/2010/main" val="2466569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a:lstStyle/>
          <a:p>
            <a:r>
              <a:rPr lang="en-US" dirty="0"/>
              <a:t>Key Stakeholders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r>
              <a:rPr lang="en-GB" dirty="0">
                <a:latin typeface="Calibri" panose="020F0502020204030204" pitchFamily="34" charset="0"/>
                <a:ea typeface="Times New Roman" panose="02020603050405020304" pitchFamily="18" charset="0"/>
                <a:cs typeface="Times New Roman" panose="02020603050405020304" pitchFamily="18" charset="0"/>
              </a:rPr>
              <a:t>Examples include </a:t>
            </a:r>
            <a:r>
              <a:rPr lang="en-GB" sz="1800" dirty="0">
                <a:effectLst/>
                <a:latin typeface="Calibri" panose="020F0502020204030204" pitchFamily="34" charset="0"/>
                <a:ea typeface="Times New Roman" panose="02020603050405020304" pitchFamily="18" charset="0"/>
                <a:cs typeface="Times New Roman" panose="02020603050405020304" pitchFamily="18" charset="0"/>
              </a:rPr>
              <a:t>Executive Sponsor, Product Owner, local architect contact, budget holder</a:t>
            </a:r>
            <a:endParaRPr lang="en-US" dirty="0"/>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3172905826"/>
              </p:ext>
            </p:extLst>
          </p:nvPr>
        </p:nvGraphicFramePr>
        <p:xfrm>
          <a:off x="479424" y="1774825"/>
          <a:ext cx="9713200" cy="2946400"/>
        </p:xfrm>
        <a:graphic>
          <a:graphicData uri="http://schemas.openxmlformats.org/drawingml/2006/table">
            <a:tbl>
              <a:tblPr firstRow="1" bandRow="1">
                <a:tableStyleId>{9D7B26C5-4107-4FEC-AEDC-1716B250A1EF}</a:tableStyleId>
              </a:tblPr>
              <a:tblGrid>
                <a:gridCol w="2356055">
                  <a:extLst>
                    <a:ext uri="{9D8B030D-6E8A-4147-A177-3AD203B41FA5}">
                      <a16:colId xmlns:a16="http://schemas.microsoft.com/office/drawing/2014/main" val="48039064"/>
                    </a:ext>
                  </a:extLst>
                </a:gridCol>
                <a:gridCol w="7357145">
                  <a:extLst>
                    <a:ext uri="{9D8B030D-6E8A-4147-A177-3AD203B41FA5}">
                      <a16:colId xmlns:a16="http://schemas.microsoft.com/office/drawing/2014/main" val="1109581400"/>
                    </a:ext>
                  </a:extLst>
                </a:gridCol>
              </a:tblGrid>
              <a:tr h="589280">
                <a:tc>
                  <a:txBody>
                    <a:bodyPr/>
                    <a:lstStyle/>
                    <a:p>
                      <a:pPr algn="l"/>
                      <a:r>
                        <a:rPr lang="en-US" sz="1600" dirty="0"/>
                        <a:t>Stakeholder</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Role</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Lynsey Fotheringham </a:t>
                      </a:r>
                    </a:p>
                  </a:txBody>
                  <a:tcPr anchor="ctr"/>
                </a:tc>
                <a:tc>
                  <a:txBody>
                    <a:bodyPr/>
                    <a:lstStyle/>
                    <a:p>
                      <a:pPr algn="l"/>
                      <a:r>
                        <a:rPr lang="en-US" sz="1600" dirty="0"/>
                        <a:t>Budget Holder / Sponsor</a:t>
                      </a:r>
                    </a:p>
                  </a:txBody>
                  <a:tcPr anchor="ct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Neil McGregor </a:t>
                      </a:r>
                    </a:p>
                  </a:txBody>
                  <a:tcPr anchor="ctr"/>
                </a:tc>
                <a:tc>
                  <a:txBody>
                    <a:bodyPr/>
                    <a:lstStyle/>
                    <a:p>
                      <a:r>
                        <a:rPr lang="en-US" sz="1600" dirty="0"/>
                        <a:t>Project Manager (external – FES) / nmcgregor@fes-group.co.uk</a:t>
                      </a:r>
                    </a:p>
                  </a:txBody>
                  <a:tcPr anchor="ct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Michelle Marnock</a:t>
                      </a:r>
                    </a:p>
                  </a:txBody>
                  <a:tcPr anchor="ctr"/>
                </a:tc>
                <a:tc>
                  <a:txBody>
                    <a:bodyPr/>
                    <a:lstStyle/>
                    <a:p>
                      <a:r>
                        <a:rPr lang="en-US" sz="1600" dirty="0"/>
                        <a:t>Local Area Contact </a:t>
                      </a:r>
                    </a:p>
                  </a:txBody>
                  <a:tcPr anchor="ct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7</a:t>
            </a:fld>
            <a:endParaRPr lang="en-US" dirty="0"/>
          </a:p>
        </p:txBody>
      </p:sp>
      <p:sp>
        <p:nvSpPr>
          <p:cNvPr id="5" name="Text Placeholder 4">
            <a:extLst>
              <a:ext uri="{FF2B5EF4-FFF2-40B4-BE49-F238E27FC236}">
                <a16:creationId xmlns:a16="http://schemas.microsoft.com/office/drawing/2014/main" id="{A990DF15-DD22-1B74-0942-BB4BFE79F9CB}"/>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291875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a:lstStyle/>
          <a:p>
            <a:r>
              <a:rPr lang="en-US" dirty="0"/>
              <a:t>Key Contributors/SMEs </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endParaRPr lang="en-US" dirty="0"/>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3478346809"/>
              </p:ext>
            </p:extLst>
          </p:nvPr>
        </p:nvGraphicFramePr>
        <p:xfrm>
          <a:off x="479425" y="1774825"/>
          <a:ext cx="11233148" cy="2946400"/>
        </p:xfrm>
        <a:graphic>
          <a:graphicData uri="http://schemas.openxmlformats.org/drawingml/2006/table">
            <a:tbl>
              <a:tblPr firstRow="1" bandRow="1">
                <a:tableStyleId>{9D7B26C5-4107-4FEC-AEDC-1716B250A1EF}</a:tableStyleId>
              </a:tblPr>
              <a:tblGrid>
                <a:gridCol w="2808287">
                  <a:extLst>
                    <a:ext uri="{9D8B030D-6E8A-4147-A177-3AD203B41FA5}">
                      <a16:colId xmlns:a16="http://schemas.microsoft.com/office/drawing/2014/main" val="48039064"/>
                    </a:ext>
                  </a:extLst>
                </a:gridCol>
                <a:gridCol w="2808287">
                  <a:extLst>
                    <a:ext uri="{9D8B030D-6E8A-4147-A177-3AD203B41FA5}">
                      <a16:colId xmlns:a16="http://schemas.microsoft.com/office/drawing/2014/main" val="1109581400"/>
                    </a:ext>
                  </a:extLst>
                </a:gridCol>
                <a:gridCol w="3703094">
                  <a:extLst>
                    <a:ext uri="{9D8B030D-6E8A-4147-A177-3AD203B41FA5}">
                      <a16:colId xmlns:a16="http://schemas.microsoft.com/office/drawing/2014/main" val="3498011201"/>
                    </a:ext>
                  </a:extLst>
                </a:gridCol>
                <a:gridCol w="1913480">
                  <a:extLst>
                    <a:ext uri="{9D8B030D-6E8A-4147-A177-3AD203B41FA5}">
                      <a16:colId xmlns:a16="http://schemas.microsoft.com/office/drawing/2014/main" val="2452554725"/>
                    </a:ext>
                  </a:extLst>
                </a:gridCol>
              </a:tblGrid>
              <a:tr h="589280">
                <a:tc>
                  <a:txBody>
                    <a:bodyPr/>
                    <a:lstStyle/>
                    <a:p>
                      <a:pPr algn="l"/>
                      <a:r>
                        <a:rPr lang="en-US" sz="1600" dirty="0"/>
                        <a:t>Key Contributor/SME</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Role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Subject</a:t>
                      </a:r>
                      <a:r>
                        <a:rPr lang="en-US" sz="1600" baseline="0" dirty="0"/>
                        <a:t> 02</a:t>
                      </a:r>
                      <a:endParaRPr lang="en-US" sz="1600" dirty="0">
                        <a:solidFill>
                          <a:schemeClr val="accent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Subject</a:t>
                      </a:r>
                      <a:r>
                        <a:rPr lang="en-US" sz="1600" baseline="0" dirty="0"/>
                        <a:t> 03</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Michelle Marnock </a:t>
                      </a:r>
                    </a:p>
                  </a:txBody>
                  <a:tcPr anchor="ctr"/>
                </a:tc>
                <a:tc>
                  <a:txBody>
                    <a:bodyPr/>
                    <a:lstStyle/>
                    <a:p>
                      <a:r>
                        <a:rPr lang="en-US" sz="1600" dirty="0"/>
                        <a:t>Local Contact </a:t>
                      </a:r>
                    </a:p>
                  </a:txBody>
                  <a:tcPr anchor="ctr"/>
                </a:tc>
                <a:tc>
                  <a:txBody>
                    <a:bodyPr/>
                    <a:lstStyle/>
                    <a:p>
                      <a:r>
                        <a:rPr lang="en-US" sz="1600" dirty="0"/>
                        <a:t>Michelle will liaise with 3</a:t>
                      </a:r>
                      <a:r>
                        <a:rPr lang="en-US" sz="1600" baseline="30000" dirty="0"/>
                        <a:t>rd</a:t>
                      </a:r>
                      <a:r>
                        <a:rPr lang="en-US" sz="1600" dirty="0"/>
                        <a:t> party suppliers for info as this is an external project</a:t>
                      </a:r>
                    </a:p>
                  </a:txBody>
                  <a:tcPr anchor="ctr"/>
                </a:tc>
                <a:tc>
                  <a:txBody>
                    <a:bodyPr/>
                    <a:lstStyle/>
                    <a:p>
                      <a:endParaRPr lang="en-US" sz="1600" dirty="0"/>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8</a:t>
            </a:fld>
            <a:endParaRPr lang="en-US" dirty="0"/>
          </a:p>
        </p:txBody>
      </p:sp>
      <p:sp>
        <p:nvSpPr>
          <p:cNvPr id="5" name="Text Placeholder 4">
            <a:extLst>
              <a:ext uri="{FF2B5EF4-FFF2-40B4-BE49-F238E27FC236}">
                <a16:creationId xmlns:a16="http://schemas.microsoft.com/office/drawing/2014/main" id="{AFFF17CE-9C93-6218-261B-B3DCEC7289F2}"/>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381989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a:lstStyle/>
          <a:p>
            <a:r>
              <a:rPr lang="en-US" dirty="0"/>
              <a:t>Business Unit(s)/Team(s) Impacted</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r>
              <a:rPr lang="en-US" dirty="0"/>
              <a:t>What business unit and teams are impacted</a:t>
            </a: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1435555564"/>
              </p:ext>
            </p:extLst>
          </p:nvPr>
        </p:nvGraphicFramePr>
        <p:xfrm>
          <a:off x="479425" y="1774825"/>
          <a:ext cx="10149426" cy="2946400"/>
        </p:xfrm>
        <a:graphic>
          <a:graphicData uri="http://schemas.openxmlformats.org/drawingml/2006/table">
            <a:tbl>
              <a:tblPr firstRow="1" bandRow="1">
                <a:tableStyleId>{9D7B26C5-4107-4FEC-AEDC-1716B250A1EF}</a:tableStyleId>
              </a:tblPr>
              <a:tblGrid>
                <a:gridCol w="4134520">
                  <a:extLst>
                    <a:ext uri="{9D8B030D-6E8A-4147-A177-3AD203B41FA5}">
                      <a16:colId xmlns:a16="http://schemas.microsoft.com/office/drawing/2014/main" val="48039064"/>
                    </a:ext>
                  </a:extLst>
                </a:gridCol>
                <a:gridCol w="6014906">
                  <a:extLst>
                    <a:ext uri="{9D8B030D-6E8A-4147-A177-3AD203B41FA5}">
                      <a16:colId xmlns:a16="http://schemas.microsoft.com/office/drawing/2014/main" val="1109581400"/>
                    </a:ext>
                  </a:extLst>
                </a:gridCol>
              </a:tblGrid>
              <a:tr h="589280">
                <a:tc>
                  <a:txBody>
                    <a:bodyPr/>
                    <a:lstStyle/>
                    <a:p>
                      <a:pPr algn="l"/>
                      <a:r>
                        <a:rPr lang="en-US" sz="1600" dirty="0"/>
                        <a:t>BU/Team</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Contact</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Property Services </a:t>
                      </a:r>
                    </a:p>
                  </a:txBody>
                  <a:tcPr anchor="ctr"/>
                </a:tc>
                <a:tc>
                  <a:txBody>
                    <a:bodyPr/>
                    <a:lstStyle/>
                    <a:p>
                      <a:r>
                        <a:rPr lang="en-US" sz="1600" dirty="0"/>
                        <a:t>Michelle Marnock</a:t>
                      </a:r>
                    </a:p>
                  </a:txBody>
                  <a:tcPr anchor="ct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9</a:t>
            </a:fld>
            <a:endParaRPr lang="en-US" dirty="0"/>
          </a:p>
        </p:txBody>
      </p:sp>
    </p:spTree>
    <p:extLst>
      <p:ext uri="{BB962C8B-B14F-4D97-AF65-F5344CB8AC3E}">
        <p14:creationId xmlns:p14="http://schemas.microsoft.com/office/powerpoint/2010/main" val="3224616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Business Requirements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lstStyle/>
          <a:p>
            <a:pPr>
              <a:spcBef>
                <a:spcPts val="0"/>
              </a:spcBef>
            </a:pPr>
            <a:r>
              <a:rPr lang="en-US" dirty="0">
                <a:solidFill>
                  <a:srgbClr val="5F6368"/>
                </a:solidFill>
                <a:latin typeface="Roboto" panose="02000000000000000000" pitchFamily="2" charset="0"/>
              </a:rPr>
              <a:t>D</a:t>
            </a:r>
            <a:r>
              <a:rPr lang="en-US" b="1" i="0" dirty="0">
                <a:solidFill>
                  <a:srgbClr val="5F6368"/>
                </a:solidFill>
                <a:effectLst/>
                <a:latin typeface="Roboto" panose="02000000000000000000" pitchFamily="2" charset="0"/>
              </a:rPr>
              <a:t>escribe why the project is needed, whom it will benefit, when and where it will take place, and</a:t>
            </a:r>
            <a:r>
              <a:rPr lang="en-US" b="0" i="0" dirty="0">
                <a:solidFill>
                  <a:srgbClr val="4D5156"/>
                </a:solidFill>
                <a:effectLst/>
                <a:latin typeface="Roboto" panose="02000000000000000000" pitchFamily="2" charset="0"/>
              </a:rPr>
              <a:t> what standards will be used to evaluate it.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1627548192"/>
              </p:ext>
            </p:extLst>
          </p:nvPr>
        </p:nvGraphicFramePr>
        <p:xfrm>
          <a:off x="479425" y="1774825"/>
          <a:ext cx="10635988" cy="3684357"/>
        </p:xfrm>
        <a:graphic>
          <a:graphicData uri="http://schemas.openxmlformats.org/drawingml/2006/table">
            <a:tbl>
              <a:tblPr firstRow="1" bandRow="1">
                <a:tableStyleId>{9D7B26C5-4107-4FEC-AEDC-1716B250A1EF}</a:tableStyleId>
              </a:tblPr>
              <a:tblGrid>
                <a:gridCol w="1609434">
                  <a:extLst>
                    <a:ext uri="{9D8B030D-6E8A-4147-A177-3AD203B41FA5}">
                      <a16:colId xmlns:a16="http://schemas.microsoft.com/office/drawing/2014/main" val="48039064"/>
                    </a:ext>
                  </a:extLst>
                </a:gridCol>
                <a:gridCol w="9026554">
                  <a:extLst>
                    <a:ext uri="{9D8B030D-6E8A-4147-A177-3AD203B41FA5}">
                      <a16:colId xmlns:a16="http://schemas.microsoft.com/office/drawing/2014/main" val="1109581400"/>
                    </a:ext>
                  </a:extLst>
                </a:gridCol>
              </a:tblGrid>
              <a:tr h="616037">
                <a:tc>
                  <a:txBody>
                    <a:bodyPr/>
                    <a:lstStyle/>
                    <a:p>
                      <a:pPr algn="l"/>
                      <a:r>
                        <a:rPr lang="en-US" sz="1600" dirty="0">
                          <a:solidFill>
                            <a:schemeClr val="tx1"/>
                          </a:solidFill>
                        </a:rPr>
                        <a:t>Requirement ID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1</a:t>
                      </a:r>
                      <a:endParaRPr lang="en-US" sz="1600" kern="1200" dirty="0">
                        <a:solidFill>
                          <a:schemeClr val="dk1"/>
                        </a:solidFill>
                        <a:latin typeface="+mn-lt"/>
                        <a:ea typeface="+mn-ea"/>
                        <a:cs typeface="Open Sans Light"/>
                      </a:endParaRPr>
                    </a:p>
                  </a:txBody>
                  <a:tcPr anchor="ctr"/>
                </a:tc>
                <a:tc>
                  <a:txBody>
                    <a:bodyPr/>
                    <a:lstStyle/>
                    <a:p>
                      <a:r>
                        <a:rPr lang="en-GB" sz="1600" i="1" dirty="0">
                          <a:solidFill>
                            <a:schemeClr val="accent1"/>
                          </a:solidFill>
                        </a:rPr>
                        <a:t>Our existing building fire alarm system in Edinburgh is end-of-life, therefore is due for life cycle replacement. The installation of the new </a:t>
                      </a:r>
                      <a:r>
                        <a:rPr lang="en-GB" sz="1600" i="1" dirty="0" err="1">
                          <a:solidFill>
                            <a:schemeClr val="accent1"/>
                          </a:solidFill>
                        </a:rPr>
                        <a:t>Fireclass</a:t>
                      </a:r>
                      <a:r>
                        <a:rPr lang="en-GB" sz="1600" i="1" dirty="0">
                          <a:solidFill>
                            <a:schemeClr val="accent1"/>
                          </a:solidFill>
                        </a:rPr>
                        <a:t> system will begin physical works in May, which will not impact GTS as this is a stand-alone system.</a:t>
                      </a:r>
                      <a:endParaRPr lang="en-US" sz="1600" i="1" dirty="0">
                        <a:solidFill>
                          <a:schemeClr val="accent1"/>
                        </a:solidFill>
                      </a:endParaRP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2</a:t>
                      </a:r>
                      <a:endParaRPr lang="en-US" sz="1600" kern="1200" dirty="0">
                        <a:solidFill>
                          <a:schemeClr val="dk1"/>
                        </a:solidFill>
                        <a:latin typeface="+mn-lt"/>
                        <a:ea typeface="+mn-ea"/>
                        <a:cs typeface="Open Sans Light"/>
                      </a:endParaRPr>
                    </a:p>
                  </a:txBody>
                  <a:tcPr anchor="ctr"/>
                </a:tc>
                <a:tc>
                  <a:txBody>
                    <a:bodyPr/>
                    <a:lstStyle/>
                    <a:p>
                      <a:r>
                        <a:rPr lang="en-US" sz="1600" i="1" dirty="0">
                          <a:solidFill>
                            <a:schemeClr val="accent1"/>
                          </a:solidFill>
                        </a:rPr>
                        <a:t>On completion, we are looking to integrate this into our existing physical security system to provide a seamless experience for our users (security officers) who will be monitoring for faults and any issues. As this is a life safety system for the building, we feel having this integration provides a fail-safe way to improve reliability by automation other than human intervention as is current. </a:t>
                      </a:r>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10</a:t>
            </a:fld>
            <a:endParaRPr lang="en-US" dirty="0"/>
          </a:p>
        </p:txBody>
      </p:sp>
    </p:spTree>
    <p:extLst>
      <p:ext uri="{BB962C8B-B14F-4D97-AF65-F5344CB8AC3E}">
        <p14:creationId xmlns:p14="http://schemas.microsoft.com/office/powerpoint/2010/main" val="517833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Success Criteria and Measurement</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lstStyle/>
          <a:p>
            <a:pPr>
              <a:spcBef>
                <a:spcPts val="0"/>
              </a:spcBef>
            </a:pPr>
            <a:r>
              <a:rPr lang="en-US" b="0" i="0" dirty="0">
                <a:solidFill>
                  <a:srgbClr val="040C28"/>
                </a:solidFill>
                <a:effectLst/>
                <a:latin typeface="Google Sans"/>
              </a:rPr>
              <a:t>What measures will be used to determine whether a project has been successful?</a:t>
            </a:r>
            <a:r>
              <a:rPr lang="en-US" b="0" i="0" dirty="0">
                <a:solidFill>
                  <a:srgbClr val="474747"/>
                </a:solidFill>
                <a:effectLst/>
                <a:latin typeface="Google Sans"/>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62820879"/>
              </p:ext>
            </p:extLst>
          </p:nvPr>
        </p:nvGraphicFramePr>
        <p:xfrm>
          <a:off x="479425" y="1774825"/>
          <a:ext cx="10459818" cy="4155440"/>
        </p:xfrm>
        <a:graphic>
          <a:graphicData uri="http://schemas.openxmlformats.org/drawingml/2006/table">
            <a:tbl>
              <a:tblPr firstRow="1" bandRow="1">
                <a:tableStyleId>{9D7B26C5-4107-4FEC-AEDC-1716B250A1EF}</a:tableStyleId>
              </a:tblPr>
              <a:tblGrid>
                <a:gridCol w="1726880">
                  <a:extLst>
                    <a:ext uri="{9D8B030D-6E8A-4147-A177-3AD203B41FA5}">
                      <a16:colId xmlns:a16="http://schemas.microsoft.com/office/drawing/2014/main" val="48039064"/>
                    </a:ext>
                  </a:extLst>
                </a:gridCol>
                <a:gridCol w="5246332">
                  <a:extLst>
                    <a:ext uri="{9D8B030D-6E8A-4147-A177-3AD203B41FA5}">
                      <a16:colId xmlns:a16="http://schemas.microsoft.com/office/drawing/2014/main" val="1109581400"/>
                    </a:ext>
                  </a:extLst>
                </a:gridCol>
                <a:gridCol w="3486606">
                  <a:extLst>
                    <a:ext uri="{9D8B030D-6E8A-4147-A177-3AD203B41FA5}">
                      <a16:colId xmlns:a16="http://schemas.microsoft.com/office/drawing/2014/main" val="3498011201"/>
                    </a:ext>
                  </a:extLst>
                </a:gridCol>
              </a:tblGrid>
              <a:tr h="589280">
                <a:tc>
                  <a:txBody>
                    <a:bodyPr/>
                    <a:lstStyle/>
                    <a:p>
                      <a:pPr algn="l"/>
                      <a:r>
                        <a:rPr lang="en-US" sz="1600" dirty="0">
                          <a:solidFill>
                            <a:schemeClr val="tx1"/>
                          </a:solidFill>
                        </a:rPr>
                        <a:t>Req 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Measure</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1</a:t>
                      </a:r>
                      <a:endParaRPr lang="en-US" sz="1600" kern="1200" dirty="0">
                        <a:solidFill>
                          <a:schemeClr val="dk1"/>
                        </a:solidFill>
                        <a:latin typeface="+mn-lt"/>
                        <a:ea typeface="+mn-ea"/>
                        <a:cs typeface="Open Sans Ligh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i="1" dirty="0">
                          <a:solidFill>
                            <a:schemeClr val="accent1"/>
                          </a:solidFill>
                        </a:rPr>
                        <a:t>Connection from existing Security Victor system which currently resides on a purpose built security enclave within the GTS network to new </a:t>
                      </a:r>
                      <a:r>
                        <a:rPr lang="en-GB" sz="1600" i="1" dirty="0" err="1">
                          <a:solidFill>
                            <a:schemeClr val="accent1"/>
                          </a:solidFill>
                        </a:rPr>
                        <a:t>Fireclass</a:t>
                      </a:r>
                      <a:r>
                        <a:rPr lang="en-GB" sz="1600" i="1" dirty="0">
                          <a:solidFill>
                            <a:schemeClr val="accent1"/>
                          </a:solidFill>
                        </a:rPr>
                        <a:t> system fire alarm main panel via ethernet connection to allow seamless integration between the 2 systems to allow monitoring of the fire alarm system through existing security control room media wall </a:t>
                      </a:r>
                      <a:endParaRPr lang="en-US" sz="1600" i="1" dirty="0">
                        <a:solidFill>
                          <a:schemeClr val="accent1"/>
                        </a:solidFill>
                      </a:endParaRPr>
                    </a:p>
                    <a:p>
                      <a:endParaRPr lang="en-US" sz="1600" dirty="0"/>
                    </a:p>
                  </a:txBody>
                  <a:tcPr/>
                </a:tc>
                <a:tc>
                  <a:txBody>
                    <a:bodyPr/>
                    <a:lstStyle/>
                    <a:p>
                      <a:r>
                        <a:rPr lang="en-US" sz="1600" dirty="0"/>
                        <a:t>Successful connectivity </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11</a:t>
            </a:fld>
            <a:endParaRPr lang="en-US" dirty="0"/>
          </a:p>
        </p:txBody>
      </p:sp>
    </p:spTree>
    <p:extLst>
      <p:ext uri="{BB962C8B-B14F-4D97-AF65-F5344CB8AC3E}">
        <p14:creationId xmlns:p14="http://schemas.microsoft.com/office/powerpoint/2010/main" val="315965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Functional Requirements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normAutofit lnSpcReduction="10000"/>
          </a:bodyPr>
          <a:lstStyle/>
          <a:p>
            <a:pPr marL="0" indent="0">
              <a:spcBef>
                <a:spcPts val="0"/>
              </a:spcBef>
              <a:buNone/>
            </a:pPr>
            <a:r>
              <a:rPr lang="en-GB" b="0" dirty="0">
                <a:solidFill>
                  <a:srgbClr val="040C28"/>
                </a:solidFill>
                <a:latin typeface="Google Sans"/>
              </a:rPr>
              <a:t>A Function requirement will capture the required behaviour in terms of functionality and the technology implementation of the business processes. A FR should outline the expected outcome from a stakeholder viewpoint.</a:t>
            </a:r>
            <a:endParaRPr lang="en-US" b="0" dirty="0">
              <a:solidFill>
                <a:srgbClr val="040C28"/>
              </a:solidFill>
              <a:latin typeface="Google Sans"/>
            </a:endParaRP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3184466997"/>
              </p:ext>
            </p:extLst>
          </p:nvPr>
        </p:nvGraphicFramePr>
        <p:xfrm>
          <a:off x="479425" y="1774825"/>
          <a:ext cx="10459818" cy="3911600"/>
        </p:xfrm>
        <a:graphic>
          <a:graphicData uri="http://schemas.openxmlformats.org/drawingml/2006/table">
            <a:tbl>
              <a:tblPr firstRow="1" bandRow="1">
                <a:tableStyleId>{9D7B26C5-4107-4FEC-AEDC-1716B250A1EF}</a:tableStyleId>
              </a:tblPr>
              <a:tblGrid>
                <a:gridCol w="1726880">
                  <a:extLst>
                    <a:ext uri="{9D8B030D-6E8A-4147-A177-3AD203B41FA5}">
                      <a16:colId xmlns:a16="http://schemas.microsoft.com/office/drawing/2014/main" val="48039064"/>
                    </a:ext>
                  </a:extLst>
                </a:gridCol>
                <a:gridCol w="5246332">
                  <a:extLst>
                    <a:ext uri="{9D8B030D-6E8A-4147-A177-3AD203B41FA5}">
                      <a16:colId xmlns:a16="http://schemas.microsoft.com/office/drawing/2014/main" val="1109581400"/>
                    </a:ext>
                  </a:extLst>
                </a:gridCol>
                <a:gridCol w="3486606">
                  <a:extLst>
                    <a:ext uri="{9D8B030D-6E8A-4147-A177-3AD203B41FA5}">
                      <a16:colId xmlns:a16="http://schemas.microsoft.com/office/drawing/2014/main" val="3498011201"/>
                    </a:ext>
                  </a:extLst>
                </a:gridCol>
              </a:tblGrid>
              <a:tr h="589280">
                <a:tc>
                  <a:txBody>
                    <a:bodyPr/>
                    <a:lstStyle/>
                    <a:p>
                      <a:pPr algn="l"/>
                      <a:r>
                        <a:rPr lang="en-US" sz="1600" dirty="0">
                          <a:solidFill>
                            <a:schemeClr val="tx1"/>
                          </a:solidFill>
                        </a:rPr>
                        <a:t>FR 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Measure</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1</a:t>
                      </a:r>
                      <a:endParaRPr lang="en-US" sz="1600" kern="1200" dirty="0">
                        <a:solidFill>
                          <a:schemeClr val="dk1"/>
                        </a:solidFill>
                        <a:latin typeface="+mn-lt"/>
                        <a:ea typeface="+mn-ea"/>
                        <a:cs typeface="Open Sans Light"/>
                      </a:endParaRPr>
                    </a:p>
                  </a:txBody>
                  <a:tcPr anchor="ctr"/>
                </a:tc>
                <a:tc>
                  <a:txBody>
                    <a:bodyPr/>
                    <a:lstStyle/>
                    <a:p>
                      <a:r>
                        <a:rPr lang="en-GB" sz="1600" i="1" dirty="0">
                          <a:solidFill>
                            <a:schemeClr val="accent1"/>
                          </a:solidFill>
                        </a:rPr>
                        <a:t>Connection from existing Security Victor system which currently resides on a purpose built security enclave within the GTS network to new </a:t>
                      </a:r>
                      <a:r>
                        <a:rPr lang="en-GB" sz="1600" i="1" dirty="0" err="1">
                          <a:solidFill>
                            <a:schemeClr val="accent1"/>
                          </a:solidFill>
                        </a:rPr>
                        <a:t>Fireclass</a:t>
                      </a:r>
                      <a:r>
                        <a:rPr lang="en-GB" sz="1600" i="1" dirty="0">
                          <a:solidFill>
                            <a:schemeClr val="accent1"/>
                          </a:solidFill>
                        </a:rPr>
                        <a:t> system fire alarm main panel via ethernet connection to allow seamless integration between the 2 systems to allow monitoring of the fire alarm system through existing security control room media wall </a:t>
                      </a:r>
                      <a:endParaRPr lang="en-US" sz="1600" i="1" dirty="0">
                        <a:solidFill>
                          <a:schemeClr val="accent1"/>
                        </a:solidFill>
                      </a:endParaRPr>
                    </a:p>
                  </a:txBody>
                  <a:tcPr/>
                </a:tc>
                <a:tc>
                  <a:txBody>
                    <a:bodyPr/>
                    <a:lstStyle/>
                    <a:p>
                      <a:r>
                        <a:rPr lang="en-US" sz="1600" i="1" dirty="0">
                          <a:solidFill>
                            <a:schemeClr val="accent1"/>
                          </a:solidFill>
                        </a:rPr>
                        <a:t>Visibility on the media wall for security officers of the </a:t>
                      </a:r>
                      <a:r>
                        <a:rPr lang="en-US" sz="1600" i="1" dirty="0" err="1">
                          <a:solidFill>
                            <a:schemeClr val="accent1"/>
                          </a:solidFill>
                        </a:rPr>
                        <a:t>Fireclass</a:t>
                      </a:r>
                      <a:r>
                        <a:rPr lang="en-US" sz="1600" i="1" dirty="0">
                          <a:solidFill>
                            <a:schemeClr val="accent1"/>
                          </a:solidFill>
                        </a:rPr>
                        <a:t> system.</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12</a:t>
            </a:fld>
            <a:endParaRPr lang="en-US" dirty="0"/>
          </a:p>
        </p:txBody>
      </p:sp>
    </p:spTree>
    <p:extLst>
      <p:ext uri="{BB962C8B-B14F-4D97-AF65-F5344CB8AC3E}">
        <p14:creationId xmlns:p14="http://schemas.microsoft.com/office/powerpoint/2010/main" val="3813168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Non-Functional Requirements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lstStyle/>
          <a:p>
            <a:pPr marL="0" indent="0">
              <a:spcBef>
                <a:spcPts val="0"/>
              </a:spcBef>
              <a:buNone/>
            </a:pPr>
            <a:r>
              <a:rPr lang="en-US" b="0" dirty="0">
                <a:solidFill>
                  <a:srgbClr val="040C28"/>
                </a:solidFill>
                <a:latin typeface="Google Sans"/>
              </a:rPr>
              <a:t>Focused on how the system goes about delivering a specific function. </a:t>
            </a:r>
            <a:r>
              <a:rPr lang="en-US" b="0" dirty="0" err="1">
                <a:solidFill>
                  <a:srgbClr val="040C28"/>
                </a:solidFill>
                <a:latin typeface="Google Sans"/>
              </a:rPr>
              <a:t>Ie</a:t>
            </a:r>
            <a:r>
              <a:rPr lang="en-US" b="0" dirty="0">
                <a:solidFill>
                  <a:srgbClr val="040C28"/>
                </a:solidFill>
                <a:latin typeface="Google Sans"/>
              </a:rPr>
              <a:t>. Speed, Availability, Capacity. NRFs usually have a metric that can be measured. (e.g. Availability/RPO/RTO)</a:t>
            </a: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3807160639"/>
              </p:ext>
            </p:extLst>
          </p:nvPr>
        </p:nvGraphicFramePr>
        <p:xfrm>
          <a:off x="479425" y="1774825"/>
          <a:ext cx="10131526" cy="3423920"/>
        </p:xfrm>
        <a:graphic>
          <a:graphicData uri="http://schemas.openxmlformats.org/drawingml/2006/table">
            <a:tbl>
              <a:tblPr firstRow="1" bandRow="1">
                <a:tableStyleId>{9D7B26C5-4107-4FEC-AEDC-1716B250A1EF}</a:tableStyleId>
              </a:tblPr>
              <a:tblGrid>
                <a:gridCol w="1398588">
                  <a:extLst>
                    <a:ext uri="{9D8B030D-6E8A-4147-A177-3AD203B41FA5}">
                      <a16:colId xmlns:a16="http://schemas.microsoft.com/office/drawing/2014/main" val="48039064"/>
                    </a:ext>
                  </a:extLst>
                </a:gridCol>
                <a:gridCol w="5246332">
                  <a:extLst>
                    <a:ext uri="{9D8B030D-6E8A-4147-A177-3AD203B41FA5}">
                      <a16:colId xmlns:a16="http://schemas.microsoft.com/office/drawing/2014/main" val="1109581400"/>
                    </a:ext>
                  </a:extLst>
                </a:gridCol>
                <a:gridCol w="3486606">
                  <a:extLst>
                    <a:ext uri="{9D8B030D-6E8A-4147-A177-3AD203B41FA5}">
                      <a16:colId xmlns:a16="http://schemas.microsoft.com/office/drawing/2014/main" val="3498011201"/>
                    </a:ext>
                  </a:extLst>
                </a:gridCol>
              </a:tblGrid>
              <a:tr h="589280">
                <a:tc>
                  <a:txBody>
                    <a:bodyPr/>
                    <a:lstStyle/>
                    <a:p>
                      <a:pPr algn="l"/>
                      <a:r>
                        <a:rPr lang="en-US" sz="1600" dirty="0">
                          <a:solidFill>
                            <a:schemeClr val="tx1"/>
                          </a:solidFill>
                        </a:rPr>
                        <a:t>Req 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Measure</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1</a:t>
                      </a:r>
                      <a:endParaRPr lang="en-US" sz="1600" kern="1200" dirty="0">
                        <a:solidFill>
                          <a:schemeClr val="dk1"/>
                        </a:solidFill>
                        <a:latin typeface="+mn-lt"/>
                        <a:ea typeface="+mn-ea"/>
                        <a:cs typeface="Open Sans Light"/>
                      </a:endParaRPr>
                    </a:p>
                  </a:txBody>
                  <a:tcPr anchor="ctr"/>
                </a:tc>
                <a:tc>
                  <a:txBody>
                    <a:bodyPr/>
                    <a:lstStyle/>
                    <a:p>
                      <a:r>
                        <a:rPr lang="en-US" sz="1600" i="1" dirty="0">
                          <a:solidFill>
                            <a:schemeClr val="accent1"/>
                          </a:solidFill>
                        </a:rPr>
                        <a:t>Integration is not business critical as both the fire and security systems will work independently, however the integration is to improve security measures in the event of an issue </a:t>
                      </a:r>
                    </a:p>
                  </a:txBody>
                  <a:tcPr/>
                </a:tc>
                <a:tc>
                  <a:txBody>
                    <a:bodyPr/>
                    <a:lstStyle/>
                    <a:p>
                      <a:r>
                        <a:rPr lang="en-US" sz="1600" i="1" dirty="0">
                          <a:solidFill>
                            <a:schemeClr val="accent1"/>
                          </a:solidFill>
                        </a:rPr>
                        <a:t>n/a</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13</a:t>
            </a:fld>
            <a:endParaRPr lang="en-US" dirty="0"/>
          </a:p>
        </p:txBody>
      </p:sp>
    </p:spTree>
    <p:extLst>
      <p:ext uri="{BB962C8B-B14F-4D97-AF65-F5344CB8AC3E}">
        <p14:creationId xmlns:p14="http://schemas.microsoft.com/office/powerpoint/2010/main" val="970186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Data Classification</a:t>
            </a: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2875578313"/>
              </p:ext>
            </p:extLst>
          </p:nvPr>
        </p:nvGraphicFramePr>
        <p:xfrm>
          <a:off x="479425" y="1774825"/>
          <a:ext cx="10577265" cy="2946400"/>
        </p:xfrm>
        <a:graphic>
          <a:graphicData uri="http://schemas.openxmlformats.org/drawingml/2006/table">
            <a:tbl>
              <a:tblPr firstRow="1" bandRow="1">
                <a:tableStyleId>{9D7B26C5-4107-4FEC-AEDC-1716B250A1EF}</a:tableStyleId>
              </a:tblPr>
              <a:tblGrid>
                <a:gridCol w="6349214">
                  <a:extLst>
                    <a:ext uri="{9D8B030D-6E8A-4147-A177-3AD203B41FA5}">
                      <a16:colId xmlns:a16="http://schemas.microsoft.com/office/drawing/2014/main" val="48039064"/>
                    </a:ext>
                  </a:extLst>
                </a:gridCol>
                <a:gridCol w="2181137">
                  <a:extLst>
                    <a:ext uri="{9D8B030D-6E8A-4147-A177-3AD203B41FA5}">
                      <a16:colId xmlns:a16="http://schemas.microsoft.com/office/drawing/2014/main" val="1109581400"/>
                    </a:ext>
                  </a:extLst>
                </a:gridCol>
                <a:gridCol w="2046914">
                  <a:extLst>
                    <a:ext uri="{9D8B030D-6E8A-4147-A177-3AD203B41FA5}">
                      <a16:colId xmlns:a16="http://schemas.microsoft.com/office/drawing/2014/main" val="3498011201"/>
                    </a:ext>
                  </a:extLst>
                </a:gridCol>
              </a:tblGrid>
              <a:tr h="589280">
                <a:tc>
                  <a:txBody>
                    <a:bodyPr/>
                    <a:lstStyle/>
                    <a:p>
                      <a:pPr algn="l"/>
                      <a:r>
                        <a:rPr lang="en-US" sz="1600" dirty="0"/>
                        <a:t>Class Definition</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Yes</a:t>
                      </a:r>
                      <a:endParaRPr lang="en-US" sz="1600" dirty="0">
                        <a:solidFill>
                          <a:schemeClr val="accent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accent1"/>
                          </a:solidFill>
                        </a:rPr>
                        <a:t>No</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Strictly Confidential: </a:t>
                      </a:r>
                      <a:r>
                        <a:rPr lang="en-US" sz="1400" kern="1200" dirty="0"/>
                        <a:t>Information that is extremely sensitive.</a:t>
                      </a:r>
                      <a:endParaRPr lang="en-US" sz="14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r>
                        <a:rPr lang="en-US" sz="1600" dirty="0"/>
                        <a:t>x</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Confidential: </a:t>
                      </a:r>
                      <a:r>
                        <a:rPr lang="en-US" sz="1400" kern="1200" dirty="0"/>
                        <a:t>Information that is sensitive</a:t>
                      </a:r>
                      <a:endParaRPr lang="en-US" sz="14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r>
                        <a:rPr lang="en-US" sz="1600" dirty="0"/>
                        <a:t>x</a:t>
                      </a:r>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Internal: </a:t>
                      </a:r>
                      <a:r>
                        <a:rPr lang="en-US" sz="1400" kern="1200" dirty="0"/>
                        <a:t>Information owned by Aegon and utilized in day-to-day business operations.</a:t>
                      </a:r>
                    </a:p>
                  </a:txBody>
                  <a:tcPr anchor="ctr"/>
                </a:tc>
                <a:tc>
                  <a:txBody>
                    <a:bodyPr/>
                    <a:lstStyle/>
                    <a:p>
                      <a:r>
                        <a:rPr lang="en-US" sz="1600" dirty="0"/>
                        <a:t>x</a:t>
                      </a:r>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Public: </a:t>
                      </a:r>
                      <a:r>
                        <a:rPr lang="en-US" sz="1400" kern="1200" dirty="0">
                          <a:solidFill>
                            <a:schemeClr val="tx1"/>
                          </a:solidFill>
                          <a:latin typeface="+mn-lt"/>
                          <a:ea typeface="+mn-ea"/>
                          <a:cs typeface="+mn-cs"/>
                        </a:rPr>
                        <a:t>Comes from public sources or available to general public</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r>
                        <a:rPr lang="en-US" sz="1600" dirty="0"/>
                        <a:t>x</a:t>
                      </a:r>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14</a:t>
            </a:fld>
            <a:endParaRPr lang="en-US" dirty="0"/>
          </a:p>
        </p:txBody>
      </p:sp>
      <p:sp>
        <p:nvSpPr>
          <p:cNvPr id="10" name="Text Placeholder 9">
            <a:extLst>
              <a:ext uri="{FF2B5EF4-FFF2-40B4-BE49-F238E27FC236}">
                <a16:creationId xmlns:a16="http://schemas.microsoft.com/office/drawing/2014/main" id="{7D059F6E-05E7-5CDA-B816-31F3B8D08454}"/>
              </a:ext>
            </a:extLst>
          </p:cNvPr>
          <p:cNvSpPr>
            <a:spLocks noGrp="1"/>
          </p:cNvSpPr>
          <p:nvPr>
            <p:ph type="body" sz="quarter" idx="13"/>
          </p:nvPr>
        </p:nvSpPr>
        <p:spPr>
          <a:xfrm>
            <a:off x="480000" y="1090569"/>
            <a:ext cx="11232000" cy="648231"/>
          </a:xfrm>
        </p:spPr>
        <p:txBody>
          <a:bodyPr/>
          <a:lstStyle/>
          <a:p>
            <a:r>
              <a:rPr lang="en-US" dirty="0"/>
              <a:t>Please provide the data classification related to any data this request will impact.  Examples can be found on page 5 of </a:t>
            </a:r>
            <a:r>
              <a:rPr lang="en-US" dirty="0">
                <a:hlinkClick r:id="rId3"/>
              </a:rPr>
              <a:t>this document. </a:t>
            </a:r>
            <a:endParaRPr lang="en-US" dirty="0"/>
          </a:p>
        </p:txBody>
      </p:sp>
    </p:spTree>
    <p:extLst>
      <p:ext uri="{BB962C8B-B14F-4D97-AF65-F5344CB8AC3E}">
        <p14:creationId xmlns:p14="http://schemas.microsoft.com/office/powerpoint/2010/main" val="3173098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510654-3B0E-BDDB-986A-7FC81C2000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8B510654-3B0E-BDDB-986A-7FC81C2000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vert="horz"/>
          <a:lstStyle/>
          <a:p>
            <a:r>
              <a:rPr lang="en-US" dirty="0"/>
              <a:t>Other Information: Project Number/Financial</a:t>
            </a:r>
          </a:p>
        </p:txBody>
      </p:sp>
      <p:sp>
        <p:nvSpPr>
          <p:cNvPr id="17" name="Content Placeholder 16">
            <a:extLst>
              <a:ext uri="{FF2B5EF4-FFF2-40B4-BE49-F238E27FC236}">
                <a16:creationId xmlns:a16="http://schemas.microsoft.com/office/drawing/2014/main" id="{0B9E93A7-E5A7-9BFC-37C3-7DEED9E119B3}"/>
              </a:ext>
            </a:extLst>
          </p:cNvPr>
          <p:cNvSpPr>
            <a:spLocks noGrp="1"/>
          </p:cNvSpPr>
          <p:nvPr>
            <p:ph idx="1"/>
          </p:nvPr>
        </p:nvSpPr>
        <p:spPr>
          <a:xfrm>
            <a:off x="480000" y="1414800"/>
            <a:ext cx="11232000" cy="4679998"/>
          </a:xfrm>
        </p:spPr>
        <p:txBody>
          <a:bodyPr/>
          <a:lstStyle/>
          <a:p>
            <a:r>
              <a:rPr lang="en-US" dirty="0"/>
              <a:t>Project Name: </a:t>
            </a:r>
            <a:r>
              <a:rPr lang="en-US" dirty="0" err="1"/>
              <a:t>Fireclass</a:t>
            </a:r>
            <a:r>
              <a:rPr lang="en-US" dirty="0"/>
              <a:t> Installation</a:t>
            </a:r>
          </a:p>
          <a:p>
            <a:r>
              <a:rPr lang="en-US" dirty="0"/>
              <a:t>Project Number: N/A – external Aegon project and installation </a:t>
            </a:r>
          </a:p>
          <a:p>
            <a:r>
              <a:rPr lang="en-US" dirty="0"/>
              <a:t>Please provide the information below.</a:t>
            </a:r>
          </a:p>
          <a:p>
            <a:pPr lvl="1"/>
            <a:r>
              <a:rPr lang="en-US" dirty="0"/>
              <a:t>Cost Center: 2700</a:t>
            </a:r>
          </a:p>
          <a:p>
            <a:pPr lvl="1"/>
            <a:r>
              <a:rPr lang="en-US" dirty="0"/>
              <a:t>Cost Center Owner: Lynsey Fotheringham </a:t>
            </a:r>
          </a:p>
          <a:p>
            <a:pPr lvl="1"/>
            <a:r>
              <a:rPr lang="en-US" dirty="0"/>
              <a:t>What has been budgeted for this initiative: </a:t>
            </a:r>
          </a:p>
          <a:p>
            <a:pPr lvl="2"/>
            <a:r>
              <a:rPr lang="en-GB" sz="1800" i="1" dirty="0">
                <a:effectLst/>
                <a:latin typeface="Calibri" panose="020F0502020204030204" pitchFamily="34" charset="0"/>
                <a:ea typeface="Times New Roman" panose="02020603050405020304" pitchFamily="18" charset="0"/>
              </a:rPr>
              <a:t>$6,000</a:t>
            </a:r>
            <a:endParaRPr lang="en-US" i="1" dirty="0"/>
          </a:p>
          <a:p>
            <a:pPr lvl="1"/>
            <a:endParaRPr lang="en-US" dirty="0"/>
          </a:p>
        </p:txBody>
      </p:sp>
      <p:sp>
        <p:nvSpPr>
          <p:cNvPr id="29" name="Slide Number Placeholder 28">
            <a:extLst>
              <a:ext uri="{FF2B5EF4-FFF2-40B4-BE49-F238E27FC236}">
                <a16:creationId xmlns:a16="http://schemas.microsoft.com/office/drawing/2014/main" id="{111E2913-9BA6-07FC-0B76-C6FC2E781F97}"/>
              </a:ext>
            </a:extLst>
          </p:cNvPr>
          <p:cNvSpPr>
            <a:spLocks noGrp="1"/>
          </p:cNvSpPr>
          <p:nvPr>
            <p:ph type="sldNum" sz="quarter" idx="15"/>
          </p:nvPr>
        </p:nvSpPr>
        <p:spPr/>
        <p:txBody>
          <a:bodyPr/>
          <a:lstStyle/>
          <a:p>
            <a:fld id="{1C1606C5-D483-4832-A0E9-CF578A9B5883}" type="slidenum">
              <a:rPr lang="en-US" smtClean="0"/>
              <a:pPr/>
              <a:t>15</a:t>
            </a:fld>
            <a:endParaRPr lang="en-US" dirty="0"/>
          </a:p>
        </p:txBody>
      </p:sp>
    </p:spTree>
    <p:extLst>
      <p:ext uri="{BB962C8B-B14F-4D97-AF65-F5344CB8AC3E}">
        <p14:creationId xmlns:p14="http://schemas.microsoft.com/office/powerpoint/2010/main" val="31741567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bc1719e-3073-4a83-a8aa-5d9b5543732c">
      <Terms xmlns="http://schemas.microsoft.com/office/infopath/2007/PartnerControls"/>
    </lcf76f155ced4ddcb4097134ff3c332f>
    <TaxCatchAll xmlns="bfe6e0b6-a5a6-435d-956e-8490d4b03c3e" xsi:nil="true"/>
    <SharedWithUsers xmlns="290f8d83-fd29-439e-ae91-cfcefa340f30">
      <UserInfo>
        <DisplayName>Everest, Neil</DisplayName>
        <AccountId>20</AccountId>
        <AccountType/>
      </UserInfo>
    </SharedWithUsers>
    <Keyword xmlns="7bc1719e-3073-4a83-a8aa-5d9b5543732c" xsi:nil="true"/>
    <_ip_UnifiedCompliancePolicyUIAction xmlns="http://schemas.microsoft.com/sharepoint/v3" xsi:nil="true"/>
    <AppDomain xmlns="7bc1719e-3073-4a83-a8aa-5d9b5543732c" xsi:nil="true"/>
    <Technology xmlns="7bc1719e-3073-4a83-a8aa-5d9b5543732c" xsi:nil="true"/>
    <Model1 xmlns="7bc1719e-3073-4a83-a8aa-5d9b5543732c" xsi:nil="true"/>
    <_ip_UnifiedCompliancePolicyProperties xmlns="http://schemas.microsoft.com/sharepoint/v3" xsi:nil="true"/>
    <Pattern xmlns="7bc1719e-3073-4a83-a8aa-5d9b5543732c" xsi:nil="true"/>
    <Business_x0020_App xmlns="7bc1719e-3073-4a83-a8aa-5d9b5543732c">Unknown</Business_x0020_App>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60e1596b470e64c977d1e4ce9ac99787">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2bba0ad704353081834050430544496a"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Model1" minOccurs="0"/>
                <xsd:element ref="ns2:Technology" minOccurs="0"/>
                <xsd:element ref="ns2:AppDomain" minOccurs="0"/>
                <xsd:element ref="ns2:Business_x0020_App" minOccurs="0"/>
                <xsd:element ref="ns2:Keyword" minOccurs="0"/>
                <xsd:element ref="ns2:Pattern"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odel1" ma:index="21" nillable="true" ma:displayName="Hosting" ma:description="Operational Hosting Model of the Solution" ma:format="Dropdown" ma:internalName="Model1">
      <xsd:simpleType>
        <xsd:restriction base="dms:Choice">
          <xsd:enumeration value="IAAS"/>
          <xsd:enumeration value="PAAS"/>
          <xsd:enumeration value="SAAS"/>
          <xsd:enumeration value="DAAS"/>
          <xsd:enumeration value="AWS"/>
          <xsd:enumeration value="AZURE"/>
          <xsd:enumeration value="GCP"/>
          <xsd:enumeration value="THIRD PARTY"/>
          <xsd:enumeration value="DC"/>
          <xsd:enumeration value="HYBRID"/>
        </xsd:restriction>
      </xsd:simpleType>
    </xsd:element>
    <xsd:element name="Technology" ma:index="22" nillable="true" ma:displayName="Service" ma:description="Architecture or Technology Stack or GTS Service Area" ma:format="Dropdown" ma:internalName="Technology">
      <xsd:simpleType>
        <xsd:union memberTypes="dms:Text">
          <xsd:simpleType>
            <xsd:restriction base="dms:Choice">
              <xsd:enumeration value="SSO"/>
              <xsd:enumeration value="AD"/>
              <xsd:enumeration value="Security"/>
              <xsd:enumeration value="Storage"/>
              <xsd:enumeration value="Container"/>
              <xsd:enumeration value="Windows"/>
              <xsd:enumeration value="Appliance"/>
              <xsd:enumeration value="SQL"/>
              <xsd:enumeration value="MySQL"/>
              <xsd:enumeration value="DB2"/>
              <xsd:enumeration value="ORACLE"/>
              <xsd:enumeration value="Apple"/>
              <xsd:enumeration value="Citrix"/>
              <xsd:enumeration value="VDI"/>
              <xsd:enumeration value="Workspace"/>
              <xsd:enumeration value="O365"/>
              <xsd:enumeration value="Data Lake"/>
              <xsd:enumeration value="Ecosysyem"/>
              <xsd:enumeration value="Network"/>
              <xsd:enumeration value="RA"/>
              <xsd:enumeration value="MQ"/>
              <xsd:enumeration value="SFTP"/>
              <xsd:enumeration value="ISAM"/>
              <xsd:enumeration value="TEL"/>
              <xsd:enumeration value="Service"/>
              <xsd:enumeration value="Application"/>
              <xsd:enumeration value="Development"/>
              <xsd:enumeration value="Plugin"/>
              <xsd:enumeration value="Risk"/>
              <xsd:enumeration value="ITSM"/>
              <xsd:enumeration value="Messaging"/>
              <xsd:enumeration value="Jira"/>
              <xsd:enumeration value="Migration"/>
              <xsd:enumeration value="VPN"/>
              <xsd:enumeration value="PING"/>
              <xsd:enumeration value="OKTA"/>
              <xsd:enumeration value="Web"/>
              <xsd:enumeration value="Social"/>
              <xsd:enumeration value="Chat"/>
              <xsd:enumeration value="Phone"/>
              <xsd:enumeration value="SMS"/>
              <xsd:enumeration value="Video"/>
              <xsd:enumeration value="DR"/>
              <xsd:enumeration value="DLP"/>
              <xsd:enumeration value="CICD"/>
              <xsd:enumeration value="ETL"/>
              <xsd:enumeration value="Compute"/>
              <xsd:enumeration value="Classification"/>
              <xsd:enumeration value="Data"/>
              <xsd:enumeration value="End Point"/>
              <xsd:enumeration value="API"/>
              <xsd:enumeration value="Search"/>
              <xsd:enumeration value="Data Gateway"/>
              <xsd:enumeration value="Mobile"/>
              <xsd:enumeration value="M365"/>
              <xsd:enumeration value="D365"/>
              <xsd:enumeration value="Docker"/>
              <xsd:enumeration value="DNS"/>
              <xsd:enumeration value="LMS"/>
              <xsd:enumeration value="SMTP"/>
              <xsd:enumeration value="LDAP"/>
              <xsd:enumeration value="SIEM"/>
              <xsd:enumeration value="OVA"/>
              <xsd:enumeration value="Identity"/>
              <xsd:enumeration value="Data Protection"/>
              <xsd:enumeration value="ITAM"/>
              <xsd:enumeration value="Cyber Security"/>
            </xsd:restriction>
          </xsd:simpleType>
        </xsd:union>
      </xsd:simpleType>
    </xsd:element>
    <xsd:element name="AppDomain" ma:index="23" nillable="true" ma:displayName="Application" ma:description="Application Area" ma:format="Dropdown" ma:internalName="AppDomain">
      <xsd:simpleType>
        <xsd:restriction base="dms:Choice">
          <xsd:enumeration value="WFM"/>
          <xsd:enumeration value="DMS"/>
          <xsd:enumeration value="CMS"/>
          <xsd:enumeration value="COL"/>
          <xsd:enumeration value="SNOW"/>
          <xsd:enumeration value="LOG"/>
          <xsd:enumeration value="MON"/>
          <xsd:enumeration value="DBA"/>
          <xsd:enumeration value="APM"/>
          <xsd:enumeration value="AM"/>
          <xsd:enumeration value="DLP"/>
          <xsd:enumeration value="SECRETS"/>
          <xsd:enumeration value="PAM"/>
          <xsd:enumeration value="ROB"/>
          <xsd:enumeration value="WEB"/>
          <xsd:enumeration value="SCH"/>
          <xsd:enumeration value="O365"/>
          <xsd:enumeration value="PBI"/>
          <xsd:enumeration value="TEL"/>
          <xsd:enumeration value="AI"/>
          <xsd:enumeration value="FIN"/>
          <xsd:enumeration value="CLD"/>
          <xsd:enumeration value="RA"/>
          <xsd:enumeration value="REF"/>
          <xsd:enumeration value="PS"/>
          <xsd:enumeration value="NET"/>
          <xsd:enumeration value="LIC"/>
          <xsd:enumeration value="RPA"/>
          <xsd:enumeration value="LMS"/>
          <xsd:enumeration value="ERM"/>
          <xsd:enumeration value="ESign"/>
          <xsd:enumeration value="DIR"/>
          <xsd:enumeration value="CRM"/>
          <xsd:enumeration value="DNS"/>
          <xsd:enumeration value="WRK"/>
          <xsd:enumeration value="ANA"/>
          <xsd:enumeration value="CICD"/>
          <xsd:enumeration value="DVM"/>
          <xsd:enumeration value="SFTP"/>
          <xsd:enumeration value="ML"/>
        </xsd:restriction>
      </xsd:simpleType>
    </xsd:element>
    <xsd:element name="Business_x0020_App" ma:index="24" nillable="true" ma:displayName="Domain" ma:default="Unknown" ma:description="Short description of business function, used for seach function" ma:format="Dropdown" ma:internalName="Business_x0020_App">
      <xsd:simpleType>
        <xsd:union memberTypes="dms:Text">
          <xsd:simpleType>
            <xsd:restriction base="dms:Choice">
              <xsd:enumeration value="Pension Calculation"/>
              <xsd:enumeration value="Actuarial"/>
              <xsd:enumeration value="Unknown"/>
              <xsd:enumeration value="Legal"/>
              <xsd:enumeration value="Finance"/>
              <xsd:enumeration value="Mortgages"/>
              <xsd:enumeration value="Funds"/>
              <xsd:enumeration value="Health"/>
              <xsd:enumeration value="Advice"/>
              <xsd:enumeration value="Other"/>
              <xsd:enumeration value="Non-Life"/>
              <xsd:enumeration value="Life"/>
              <xsd:enumeration value="Loan Services"/>
              <xsd:enumeration value="Facilities"/>
              <xsd:enumeration value="Fraud"/>
              <xsd:enumeration value="Global"/>
              <xsd:enumeration value="Assets Management"/>
              <xsd:enumeration value="Service Management"/>
              <xsd:enumeration value="Workplace"/>
              <xsd:enumeration value="Investment Management"/>
              <xsd:enumeration value="Bank"/>
              <xsd:enumeration value="Risk"/>
              <xsd:enumeration value="Security"/>
              <xsd:enumeration value="Sales"/>
              <xsd:enumeration value="External"/>
              <xsd:enumeration value="SIEM"/>
              <xsd:enumeration value="Call Center"/>
              <xsd:enumeration value="Human Resource"/>
              <xsd:enumeration value="Pension"/>
            </xsd:restriction>
          </xsd:simpleType>
        </xsd:union>
      </xsd:simpleType>
    </xsd:element>
    <xsd:element name="Keyword" ma:index="25"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Pattern" ma:index="26" nillable="true" ma:displayName="Pattern" ma:description="Approved or know pattern" ma:format="Dropdown" ma:internalName="Pattern">
      <xsd:simpleType>
        <xsd:restriction base="dms:Choice">
          <xsd:enumeration value="iChannel"/>
          <xsd:enumeration value="ISAM"/>
          <xsd:enumeration value="B2B"/>
          <xsd:enumeration value="B2C"/>
          <xsd:enumeration value="Hosting"/>
          <xsd:enumeration value="Browsing"/>
          <xsd:enumeration value="EKS"/>
          <xsd:enumeration value="SSO"/>
          <xsd:enumeration value="Inter VPC"/>
          <xsd:enumeration value="AWS to DC"/>
          <xsd:enumeration value="AWS Region"/>
          <xsd:enumeration value="ClamAV"/>
          <xsd:enumeration value="VPC"/>
          <xsd:enumeration value="ServiceNow"/>
          <xsd:enumeration value="Salesforce"/>
          <xsd:enumeration value="Third Party Access"/>
          <xsd:enumeration value="Ping"/>
          <xsd:enumeration value="WAF"/>
          <xsd:enumeration value="Mobile"/>
          <xsd:enumeration value="API"/>
          <xsd:enumeration value="Data Lake"/>
        </xsd:restrictio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30" nillable="true" ma:displayName="MediaLengthInSeconds" ma:hidden="true" ma:internalName="MediaLengthInSeconds" ma:readOnly="true">
      <xsd:simpleType>
        <xsd:restriction base="dms:Unknown"/>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622B65-0AEF-4A31-AB7B-541914E155A9}">
  <ds:schemaRefs>
    <ds:schemaRef ds:uri="2c7d0217-a2eb-45a1-af28-038ceff6d65d"/>
    <ds:schemaRef ds:uri="http://schemas.microsoft.com/office/2006/metadata/properties"/>
    <ds:schemaRef ds:uri="http://purl.org/dc/elements/1.1/"/>
    <ds:schemaRef ds:uri="http://purl.org/dc/dcmitype/"/>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f4191670-dbf9-4832-b939-5aeaaa587b68"/>
    <ds:schemaRef ds:uri="11c7ee3a-9d1e-4cf4-ac1f-982bded57971"/>
    <ds:schemaRef ds:uri="http://purl.org/dc/terms/"/>
  </ds:schemaRefs>
</ds:datastoreItem>
</file>

<file path=customXml/itemProps2.xml><?xml version="1.0" encoding="utf-8"?>
<ds:datastoreItem xmlns:ds="http://schemas.openxmlformats.org/officeDocument/2006/customXml" ds:itemID="{ED7B0FC0-E6BE-4C57-8A64-F09276977A3F}"/>
</file>

<file path=customXml/itemProps3.xml><?xml version="1.0" encoding="utf-8"?>
<ds:datastoreItem xmlns:ds="http://schemas.openxmlformats.org/officeDocument/2006/customXml" ds:itemID="{F7DAC900-27C0-44FB-9A1A-45C0AC3B9B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1830</TotalTime>
  <Words>1198</Words>
  <Application>Microsoft Office PowerPoint</Application>
  <PresentationFormat>Widescreen</PresentationFormat>
  <Paragraphs>151</Paragraphs>
  <Slides>15</Slides>
  <Notes>15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Arial</vt:lpstr>
      <vt:lpstr>Calibri</vt:lpstr>
      <vt:lpstr>Calibri Light</vt:lpstr>
      <vt:lpstr>Google Sans</vt:lpstr>
      <vt:lpstr>Roboto</vt:lpstr>
      <vt:lpstr>Office Theme</vt:lpstr>
      <vt:lpstr>think-cell Slide</vt:lpstr>
      <vt:lpstr>Architecture Intake Requirements</vt:lpstr>
      <vt:lpstr>Architecture Intake Requirements</vt:lpstr>
      <vt:lpstr>Architecture Intake Requirements</vt:lpstr>
      <vt:lpstr>Business Problem</vt:lpstr>
      <vt:lpstr>Business Value</vt:lpstr>
      <vt:lpstr>High Level Design</vt:lpstr>
      <vt:lpstr>Key Stakeholders</vt:lpstr>
      <vt:lpstr>Key Contributors/SMEs </vt:lpstr>
      <vt:lpstr>Business Unit(s)/Team(s) Impacted</vt:lpstr>
      <vt:lpstr>Business Requirements</vt:lpstr>
      <vt:lpstr>Success Criteria and Measurement</vt:lpstr>
      <vt:lpstr>Functional Requirements</vt:lpstr>
      <vt:lpstr>Non-Functional Requirements</vt:lpstr>
      <vt:lpstr>Data Classification</vt:lpstr>
      <vt:lpstr>Other Information: Project Number/Financial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Intake Requirements</dc:title>
  <dc:creator>Reynolds, Stephanie</dc:creator>
  <cp:lastModifiedBy>Marnock, Michelle</cp:lastModifiedBy>
  <cp:revision>4</cp:revision>
  <dcterms:created xsi:type="dcterms:W3CDTF">2024-04-18T14:49:29Z</dcterms:created>
  <dcterms:modified xsi:type="dcterms:W3CDTF">2024-05-06T07:05:09Z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0x0101006BDAF3E3634C144D9EC799C876E6F9A3</vt:lpwstr>
  </property>
  <property fmtid="{D5CDD505-2E9C-101B-9397-08002B2CF9AE}" pid="3" name="MediaServiceImageTags">
    <vt:lpwstr/>
  </property>
</Properties>
</file>